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22" r:id="rId2"/>
    <p:sldId id="316" r:id="rId3"/>
    <p:sldId id="319" r:id="rId4"/>
    <p:sldId id="315" r:id="rId5"/>
    <p:sldId id="317" r:id="rId6"/>
    <p:sldId id="318" r:id="rId7"/>
    <p:sldId id="320" r:id="rId8"/>
    <p:sldId id="321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7EFF"/>
    <a:srgbClr val="151515"/>
    <a:srgbClr val="000000"/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0608"/>
  </p:normalViewPr>
  <p:slideViewPr>
    <p:cSldViewPr>
      <p:cViewPr varScale="1">
        <p:scale>
          <a:sx n="104" d="100"/>
          <a:sy n="104" d="100"/>
        </p:scale>
        <p:origin x="83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25D7B-1C6D-5D4C-BBB8-93591E9413E9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D3F56-6396-3545-A8D6-4399F38463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320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9D3F56-6396-3545-A8D6-4399F384634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209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7488" y="335279"/>
            <a:ext cx="2706624" cy="5364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615" y="335279"/>
            <a:ext cx="594360" cy="53644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7999"/>
                </a:lnTo>
                <a:lnTo>
                  <a:pt x="1219200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1212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0249" y="1391412"/>
            <a:ext cx="6474459" cy="421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F4F2E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82688" y="1478787"/>
            <a:ext cx="5196205" cy="300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AAAAAA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DF0F1-8F80-B129-BC49-ED811C147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048000"/>
            <a:ext cx="10363200" cy="923330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Helvetica Neue" panose="02000503000000020004" pitchFamily="2" charset="0"/>
              </a:rPr>
              <a:t>«Архитектура </a:t>
            </a:r>
            <a:r>
              <a:rPr lang="en-US" sz="3200" dirty="0">
                <a:solidFill>
                  <a:schemeClr val="bg1"/>
                </a:solidFill>
                <a:latin typeface="Helvetica Neue" panose="02000503000000020004" pitchFamily="2" charset="0"/>
              </a:rPr>
              <a:t>ML-</a:t>
            </a:r>
            <a:r>
              <a:rPr lang="ru-RU" sz="3200" dirty="0">
                <a:solidFill>
                  <a:schemeClr val="bg1"/>
                </a:solidFill>
                <a:latin typeface="Helvetica Neue" panose="02000503000000020004" pitchFamily="2" charset="0"/>
              </a:rPr>
              <a:t>решения и управление рисками»</a:t>
            </a:r>
            <a:br>
              <a:rPr lang="ru-RU" sz="3200" dirty="0">
                <a:solidFill>
                  <a:schemeClr val="bg1"/>
                </a:solidFill>
                <a:latin typeface="Helvetica Neue" panose="02000503000000020004" pitchFamily="2" charset="0"/>
              </a:rPr>
            </a:b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49534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D034D6-CFD5-A492-CA8B-5A59B3CA4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B92CCFF-238B-5F51-DE39-88923342C43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9F62F3B-B6E3-B9E0-FD9F-A8EB76053B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Из чего состоит </a:t>
            </a:r>
            <a:r>
              <a:rPr lang="en-US" spc="-95" dirty="0">
                <a:solidFill>
                  <a:srgbClr val="000000"/>
                </a:solidFill>
              </a:rPr>
              <a:t>ML-</a:t>
            </a:r>
            <a:r>
              <a:rPr lang="ru-RU" spc="-95" dirty="0">
                <a:solidFill>
                  <a:srgbClr val="000000"/>
                </a:solidFill>
              </a:rPr>
              <a:t>система?</a:t>
            </a:r>
            <a:endParaRPr lang="ru-RU" spc="-65" dirty="0">
              <a:solidFill>
                <a:srgbClr val="000000"/>
              </a:solidFill>
            </a:endParaRPr>
          </a:p>
        </p:txBody>
      </p:sp>
      <p:pic>
        <p:nvPicPr>
          <p:cNvPr id="3" name="Объект 18">
            <a:extLst>
              <a:ext uri="{FF2B5EF4-FFF2-40B4-BE49-F238E27FC236}">
                <a16:creationId xmlns:a16="http://schemas.microsoft.com/office/drawing/2014/main" id="{71FE8678-4C43-5E12-F10C-AD497163F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49" y="2232341"/>
            <a:ext cx="6043118" cy="374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568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BD6CB8-243D-ACBE-CE81-F3BC7D3A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06213EC-5B4A-8934-8DC1-528B5BBE929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24024B3-0012-129C-3FDF-528708F20D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Основные элементы архитектуры </a:t>
            </a:r>
            <a:r>
              <a:rPr lang="en-US" spc="-95" dirty="0">
                <a:solidFill>
                  <a:srgbClr val="000000"/>
                </a:solidFill>
              </a:rPr>
              <a:t>ML-</a:t>
            </a:r>
            <a:r>
              <a:rPr lang="ru-RU" spc="-95" dirty="0">
                <a:solidFill>
                  <a:srgbClr val="000000"/>
                </a:solidFill>
              </a:rPr>
              <a:t>решения</a:t>
            </a:r>
            <a:endParaRPr lang="ru-RU" spc="-65" dirty="0">
              <a:solidFill>
                <a:srgbClr val="00000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4F0E81A-9CF7-E553-1E3A-895315CD0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231" y="2183479"/>
            <a:ext cx="6934200" cy="383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65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A0CB7B-644F-989E-3115-508B9C10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0D35623-5AFB-4055-BAAF-085E9F13536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CE2D84CC-79A4-49FD-7453-6BC0559C03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Основные элементы архитектуры </a:t>
            </a:r>
            <a:r>
              <a:rPr lang="en-US" spc="-95" dirty="0">
                <a:solidFill>
                  <a:srgbClr val="000000"/>
                </a:solidFill>
              </a:rPr>
              <a:t>ML-</a:t>
            </a:r>
            <a:r>
              <a:rPr lang="ru-RU" spc="-95" dirty="0">
                <a:solidFill>
                  <a:srgbClr val="000000"/>
                </a:solidFill>
              </a:rPr>
              <a:t>решения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A2671D-CD16-6DA6-8867-F4C82FC934F2}"/>
              </a:ext>
            </a:extLst>
          </p:cNvPr>
          <p:cNvSpPr txBox="1"/>
          <p:nvPr/>
        </p:nvSpPr>
        <p:spPr>
          <a:xfrm>
            <a:off x="880249" y="2023547"/>
            <a:ext cx="917815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en-US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Data Pipeline</a:t>
            </a: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endParaRPr lang="en-US" sz="1600" b="1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8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Сбор данных (базы данных, API, стриминг).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Предобработка (очистка, нормализация,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Feature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Engineering).</a:t>
            </a: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Хранение (Data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Lakes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хранилища).</a:t>
            </a: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Модельный слой</a:t>
            </a:r>
            <a:r>
              <a:rPr lang="en-US" sz="1600" b="1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Обучение модели (выбор алгоритмов,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гиперпараметры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Валидация и тестирование (A/B-тесты, метрики качества).</a:t>
            </a:r>
            <a:endParaRPr lang="en-US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Версионирование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моделей (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MLflow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DVC).</a:t>
            </a: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en-US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Сервисный слой</a:t>
            </a:r>
            <a:r>
              <a:rPr lang="en-US" sz="1600" b="1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</a:t>
            </a: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Развертывание (REST API, </a:t>
            </a:r>
            <a:r>
              <a:rPr lang="ru-RU" sz="1600" dirty="0" err="1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микросервисы</a:t>
            </a: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контейнеризация).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Масштабирование (</a:t>
            </a:r>
            <a:r>
              <a:rPr lang="ru-RU" sz="1600" dirty="0" err="1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Kubernetes</a:t>
            </a: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облачные решения).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Мониторинг и поддержка: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Логирование (входные данные, предсказания).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Мониторинг дрейфа данных (Data </a:t>
            </a:r>
            <a:r>
              <a:rPr lang="ru-RU" sz="1600" dirty="0" err="1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Drift</a:t>
            </a: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и деградации модели.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Система </a:t>
            </a:r>
            <a:r>
              <a:rPr lang="ru-RU" sz="1600" dirty="0" err="1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алертов</a:t>
            </a:r>
            <a:r>
              <a:rPr lang="ru-RU" sz="16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и переобучение.</a:t>
            </a:r>
            <a:endParaRPr lang="en-US" sz="1600" dirty="0">
              <a:solidFill>
                <a:srgbClr val="434343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950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3DF005-7955-CCCD-9355-EC6D04D3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DA49AD-B8E5-07FB-40F6-1AF3F6737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784" y="3221158"/>
            <a:ext cx="4058216" cy="3610479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08A3F9E6-28D7-7337-7231-64FCB1617F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7F5A1F5F-2306-A644-BBDC-BC05B5FC27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Типичные проблемы и риски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A62C8-1646-1444-4BD3-E452FC018CB4}"/>
              </a:ext>
            </a:extLst>
          </p:cNvPr>
          <p:cNvSpPr txBox="1"/>
          <p:nvPr/>
        </p:nvSpPr>
        <p:spPr>
          <a:xfrm>
            <a:off x="880249" y="2023547"/>
            <a:ext cx="91781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Проблемы с данными: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Недостаток данных для обучения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Низкое качество данных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Несогласованная частота поставки данных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Проблемы с моделью:</a:t>
            </a:r>
            <a:endParaRPr lang="ru-RU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Переобучение (</a:t>
            </a:r>
            <a:r>
              <a:rPr lang="ru-RU" sz="14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Overfitting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на исторических данных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Неучет </a:t>
            </a:r>
            <a:r>
              <a:rPr lang="ru-RU" sz="14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edge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-кейсов (например, редкие классы в классификации)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Ошибки в </a:t>
            </a:r>
            <a:r>
              <a:rPr lang="ru-RU" sz="14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пайплайнах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/коде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</a:t>
            </a:r>
            <a:endParaRPr lang="ru-RU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endParaRPr lang="ru-RU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Проблемы с инфраструктурой:</a:t>
            </a:r>
            <a:endParaRPr lang="ru-RU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Высокие задержки в реальном времени (</a:t>
            </a:r>
            <a:r>
              <a:rPr lang="ru-RU" sz="14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latency</a:t>
            </a: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Неэффективное использование ресурсов (CPU/GPU)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Сбои инфраструктуры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4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Проблемы с мониторингом и поддержкой:</a:t>
            </a:r>
            <a:endParaRPr lang="ru-RU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Отсутствие автоматического обнаружения аномалий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Нет механизмов отката к предыдущей версии модели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43434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</a:t>
            </a:r>
            <a:endParaRPr lang="en-US" sz="14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227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8A035C-6F97-1829-B19C-FBF0BBF2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959D0F2-A5B0-6359-E18B-255CECC8DC2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55748509-61A1-7769-0DD8-52CC586B1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Типичные проблемы и риски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386AB-4D5A-ED53-5A2A-7011EB974491}"/>
              </a:ext>
            </a:extLst>
          </p:cNvPr>
          <p:cNvSpPr txBox="1"/>
          <p:nvPr/>
        </p:nvSpPr>
        <p:spPr>
          <a:xfrm>
            <a:off x="880249" y="2023547"/>
            <a:ext cx="917815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Этические и правовые риски:</a:t>
            </a: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Смещения (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bias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в данных или моделях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Нарушение приватности (утечка персональных данных)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Несоответствие регуляторным требованиям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Бизнес-риски:</a:t>
            </a: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Низкий ROI из-за высокой стоимости разработки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Несоответствие результатов бизнес-целям</a:t>
            </a: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901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3F1FC9-6BA1-0A90-4679-CED3EA0A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3745CB6-0572-141C-5825-B886559F76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3FA5725-C60B-AF37-CD5F-2BBD8652CE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Методы оценки рисков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6EBCD4-E95F-D42E-F43A-7EF87EB3B4A3}"/>
              </a:ext>
            </a:extLst>
          </p:cNvPr>
          <p:cNvSpPr txBox="1"/>
          <p:nvPr/>
        </p:nvSpPr>
        <p:spPr>
          <a:xfrm>
            <a:off x="880249" y="2023547"/>
            <a:ext cx="917815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Анализ влияния (Impact Analysis):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Оценка последствий сбоя модели (например, финансовые потери, репутационные риски)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Сценарное тестирование: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Проверка работы модели в экстремальных условиях (например, пиковая нагрузка, аномальные данные)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Аудит моделей: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Регулярная проверка на смещения, интерпретируемость, соответствие этическим нормам</a:t>
            </a: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967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80D482-9970-E134-BA8A-36D3FB743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FCA2451-D66E-BE25-50F9-B87D318F63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6800" y="0"/>
            <a:ext cx="7312150" cy="640080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FF4567E-508A-E566-E00A-41ABC160BE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0249" y="1391412"/>
            <a:ext cx="7654151" cy="4129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pc="-95" dirty="0">
                <a:solidFill>
                  <a:srgbClr val="000000"/>
                </a:solidFill>
              </a:rPr>
              <a:t>Стратегии смягчения рисков</a:t>
            </a:r>
            <a:endParaRPr lang="ru-RU" spc="-65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E1BD24-385E-19D2-3ABB-FACF4ED90528}"/>
              </a:ext>
            </a:extLst>
          </p:cNvPr>
          <p:cNvSpPr txBox="1"/>
          <p:nvPr/>
        </p:nvSpPr>
        <p:spPr>
          <a:xfrm>
            <a:off x="880249" y="2023547"/>
            <a:ext cx="917815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технических рисков: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Регулярное обновление данных и переобучение моделей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Внедрение автоматического мониторинга дрейфа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операционных рисков: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Резервирование инфраструктуры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Использование </a:t>
            </a: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Serverless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-архитектур для оптимизации затрат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этических рисков: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 err="1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Fairness</a:t>
            </a: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-тестирование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Анонимизация данных и соблюдение GDPR</a:t>
            </a:r>
          </a:p>
          <a:p>
            <a:pPr lvl="0" algn="l">
              <a:buSzPts val="1000"/>
              <a:tabLst>
                <a:tab pos="457200" algn="l"/>
              </a:tabLst>
            </a:pPr>
            <a:endParaRPr lang="ru-RU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 algn="l">
              <a:buSzPts val="1000"/>
              <a:tabLst>
                <a:tab pos="457200" algn="l"/>
              </a:tabLst>
            </a:pPr>
            <a:r>
              <a:rPr lang="ru-RU" sz="1600" b="1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Для бизнес-рисков: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Поэтапное внедрение (пилотные проекты, A/B-тесты)</a:t>
            </a:r>
          </a:p>
          <a:p>
            <a:pPr marL="285750" lvl="0" indent="-285750" algn="l"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600" dirty="0">
                <a:solidFill>
                  <a:srgbClr val="434343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Четкое согласование метрик успеха с заказчиком</a:t>
            </a:r>
            <a:endParaRPr lang="en-US" sz="1600" dirty="0">
              <a:solidFill>
                <a:srgbClr val="434343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4263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366</Words>
  <Application>Microsoft Office PowerPoint</Application>
  <PresentationFormat>Широкоэкранный</PresentationFormat>
  <Paragraphs>83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Arial</vt:lpstr>
      <vt:lpstr>Helvetica Neue</vt:lpstr>
      <vt:lpstr>Verdana</vt:lpstr>
      <vt:lpstr>Office Theme</vt:lpstr>
      <vt:lpstr>«Архитектура ML-решения и управление рисками» </vt:lpstr>
      <vt:lpstr>Из чего состоит ML-система?</vt:lpstr>
      <vt:lpstr>Основные элементы архитектуры ML-решения</vt:lpstr>
      <vt:lpstr>Основные элементы архитектуры ML-решения</vt:lpstr>
      <vt:lpstr>Типичные проблемы и риски</vt:lpstr>
      <vt:lpstr>Типичные проблемы и риски</vt:lpstr>
      <vt:lpstr>Методы оценки рисков</vt:lpstr>
      <vt:lpstr>Стратегии смягчения рисков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Кристина Желтова</cp:lastModifiedBy>
  <cp:revision>41</cp:revision>
  <dcterms:created xsi:type="dcterms:W3CDTF">2025-04-21T14:02:08Z</dcterms:created>
  <dcterms:modified xsi:type="dcterms:W3CDTF">2026-02-07T14:09:23Z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2024-11-19T00:00:00Z</vt:filetime>
  </property>
  <property fmtid="{D5CDD505-2E9C-101B-9397-08002B2CF9AE}" pid="3" name="LastSaved">
    <vt:filetime>2025-04-21T00:00:00Z</vt:filetime>
  </property>
  <property fmtid="{D5CDD505-2E9C-101B-9397-08002B2CF9AE}" pid="4" name="Producer">
    <vt:lpwstr>macOS Версия 15.0 (Выпуск 24A335) Quartz PDFContext</vt:lpwstr>
  </property>
</Properties>
</file>