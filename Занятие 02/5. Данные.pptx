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32" r:id="rId2"/>
    <p:sldId id="315" r:id="rId3"/>
    <p:sldId id="316" r:id="rId4"/>
    <p:sldId id="317" r:id="rId5"/>
    <p:sldId id="319" r:id="rId6"/>
    <p:sldId id="318" r:id="rId7"/>
    <p:sldId id="323" r:id="rId8"/>
    <p:sldId id="324" r:id="rId9"/>
    <p:sldId id="325" r:id="rId10"/>
    <p:sldId id="320" r:id="rId11"/>
    <p:sldId id="326" r:id="rId12"/>
    <p:sldId id="327" r:id="rId13"/>
    <p:sldId id="328" r:id="rId14"/>
    <p:sldId id="329" r:id="rId15"/>
    <p:sldId id="330" r:id="rId16"/>
    <p:sldId id="33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EFF"/>
    <a:srgbClr val="151515"/>
    <a:srgbClr val="00000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0608"/>
  </p:normalViewPr>
  <p:slideViewPr>
    <p:cSldViewPr>
      <p:cViewPr varScale="1">
        <p:scale>
          <a:sx n="104" d="100"/>
          <a:sy n="104" d="100"/>
        </p:scale>
        <p:origin x="8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25D7B-1C6D-5D4C-BBB8-93591E9413E9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D3F56-6396-3545-A8D6-4399F38463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2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703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6B65-0C7D-98B8-812F-5EC84997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5BA4F31-BA4D-8415-EB12-945436EDC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6BEEE6-7E41-A431-51BC-8F5DD835D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CE7739-1BE4-F70A-0BF7-6AB21AEF2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573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8990-8AC8-9079-5236-467A18DC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5F772A-33BC-91A0-F29A-E8ADD8A0E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3985F3-D42C-FA6A-1626-84D95E178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3C3953-20EC-1EDA-8385-DA21B5A97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66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1A05-7E24-8F2A-ED26-7105C78C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762943-85AC-6C9A-3EED-5007BB15F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F33292-CCD7-D86D-8F74-817A0820B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8DC08B-3102-CA02-DDE6-1138D6813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7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CC6A-1AA2-FAD4-86EE-22E34C77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20FE81-891F-BC2F-0085-F32A9E236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DEF97A-A6E2-8993-B0E3-839147618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17014B-10E3-64CF-5956-C6AFEFB33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864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B2BC-C2D9-3D25-22A4-431A2027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E06159-6B81-B9D8-F5EB-64B1295BA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2E0A93-1437-9458-89D4-60B9AFFF4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D60F9-235A-C84E-B939-A52DC9AC1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294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335279"/>
            <a:ext cx="2706624" cy="5364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615" y="335279"/>
            <a:ext cx="594360" cy="536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249" y="1391412"/>
            <a:ext cx="6474459" cy="42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2688" y="1478787"/>
            <a:ext cx="5196205" cy="300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AEEAE-74B3-B0D3-0B94-46F947CEA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967335"/>
            <a:ext cx="10363200" cy="92333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Helvetica Neue" panose="02000503000000020004" pitchFamily="2" charset="0"/>
              </a:rPr>
              <a:t>«Работа с данными и ограничениями датасетов»</a:t>
            </a:r>
            <a:br>
              <a:rPr lang="ru-RU" sz="3200" dirty="0">
                <a:solidFill>
                  <a:schemeClr val="bg1"/>
                </a:solidFill>
                <a:latin typeface="Helvetica Neue" panose="02000503000000020004" pitchFamily="2" charset="0"/>
              </a:rPr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608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A0CB7B-644F-989E-3115-508B9C10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0D35623-5AFB-4055-BAAF-085E9F1353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2D84CC-79A4-49FD-7453-6BC0559C0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Data Centric VS Data Driven VS Model Driven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A2671D-CD16-6DA6-8867-F4C82FC934F2}"/>
              </a:ext>
            </a:extLst>
          </p:cNvPr>
          <p:cNvSpPr txBox="1"/>
          <p:nvPr/>
        </p:nvSpPr>
        <p:spPr>
          <a:xfrm>
            <a:off x="880249" y="2023547"/>
            <a:ext cx="49109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Driven 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 ориентирован на модель, фокусируется на улучшении кода и модели для достижения лучших результатов с учетом фиксированного набора данных.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Driven 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 ориентирован на данные, фокусируется на аналитике и развитии технологии за счет переработки больших объемов данных.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</a:t>
            </a:r>
            <a:r>
              <a:rPr lang="ru-RU" sz="1600" b="1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Centric</a:t>
            </a: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 - система, в которой данные являются основным и неотъемлемым ресурсом, а способы их использования меняются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Google Shape;100;p16">
            <a:extLst>
              <a:ext uri="{FF2B5EF4-FFF2-40B4-BE49-F238E27FC236}">
                <a16:creationId xmlns:a16="http://schemas.microsoft.com/office/drawing/2014/main" id="{AF54523B-82E8-ED34-C6A8-11B9A64C4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436991"/>
              </p:ext>
            </p:extLst>
          </p:nvPr>
        </p:nvGraphicFramePr>
        <p:xfrm>
          <a:off x="6629400" y="3695666"/>
          <a:ext cx="5322050" cy="30469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6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0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Data Centric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Model Driven</a:t>
                      </a:r>
                      <a:endParaRPr sz="10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Механизм улучшения - работа над данными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Механизм улучшения - работа над моделью/кодом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2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Ведется работа над количеством и качеством данных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Оптимизация модели помогает справляться с шумом в данных</a:t>
                      </a:r>
                      <a:endParaRPr sz="10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2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Качество и согласованность данных имеют наивысший приоритет</a:t>
                      </a:r>
                      <a:endParaRPr sz="10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Данные могут быть шумными, метки - несогласованными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Код/алгоритмы могут быть неизменны</a:t>
                      </a:r>
                      <a:endParaRPr sz="10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Данные могут быть неизменны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Качество улучшается итеративно</a:t>
                      </a:r>
                      <a:endParaRPr sz="100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dirty="0"/>
                        <a:t>Модель улучшается итеративно</a:t>
                      </a:r>
                      <a:endParaRPr sz="10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95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D034D6-CFD5-A492-CA8B-5A59B3CA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B92CCFF-238B-5F51-DE39-88923342C4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9F62F3B-B6E3-B9E0-FD9F-A8EB76053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Garbage in -&gt; garbage out</a:t>
            </a:r>
          </a:p>
        </p:txBody>
      </p:sp>
      <p:pic>
        <p:nvPicPr>
          <p:cNvPr id="5" name="Google Shape;115;p17">
            <a:extLst>
              <a:ext uri="{FF2B5EF4-FFF2-40B4-BE49-F238E27FC236}">
                <a16:creationId xmlns:a16="http://schemas.microsoft.com/office/drawing/2014/main" id="{85C7663A-A037-EB19-D25C-CF9A539402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249" y="2049338"/>
            <a:ext cx="6282551" cy="4199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56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DF005-7955-CCCD-9355-EC6D04D3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6;p19">
            <a:extLst>
              <a:ext uri="{FF2B5EF4-FFF2-40B4-BE49-F238E27FC236}">
                <a16:creationId xmlns:a16="http://schemas.microsoft.com/office/drawing/2014/main" id="{4BF54246-723D-FDF5-92AF-040BA9792E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2200" y="3587343"/>
            <a:ext cx="4500125" cy="293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08A3F9E6-28D7-7337-7231-64FCB1617F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F5A1F5F-2306-A644-BBDC-BC05B5FC2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101687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Объем и качество данных - стратегии отбора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A62C8-1646-1444-4BD3-E452FC018CB4}"/>
              </a:ext>
            </a:extLst>
          </p:cNvPr>
          <p:cNvSpPr txBox="1"/>
          <p:nvPr/>
        </p:nvSpPr>
        <p:spPr>
          <a:xfrm>
            <a:off x="880249" y="2023547"/>
            <a:ext cx="62063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Просто взять все, что есть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Отбираем, какие именно объекты взять в набор данных (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экспертно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или сэмплируем)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Вопрос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как оценить необходимый объем данных?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2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BD6CB8-243D-ACBE-CE81-F3BC7D3A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06213EC-5B4A-8934-8DC1-528B5BBE92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24024B3-0012-129C-3FDF-528708F20D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101687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Объем и качество данных </a:t>
            </a:r>
          </a:p>
        </p:txBody>
      </p:sp>
      <p:pic>
        <p:nvPicPr>
          <p:cNvPr id="3" name="Google Shape;161;p20">
            <a:extLst>
              <a:ext uri="{FF2B5EF4-FFF2-40B4-BE49-F238E27FC236}">
                <a16:creationId xmlns:a16="http://schemas.microsoft.com/office/drawing/2014/main" id="{6A062CEB-A648-2630-408A-BA56540A00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186" y="2137570"/>
            <a:ext cx="5620814" cy="4263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065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8A035C-6F97-1829-B19C-FBF0BBF2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959D0F2-A5B0-6359-E18B-255CECC8DC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5748509-61A1-7769-0DD8-52CC586B1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Проблемы в данных - о чем стоит подумать?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386AB-4D5A-ED53-5A2A-7011EB974491}"/>
              </a:ext>
            </a:extLst>
          </p:cNvPr>
          <p:cNvSpPr txBox="1"/>
          <p:nvPr/>
        </p:nvSpPr>
        <p:spPr>
          <a:xfrm>
            <a:off x="880249" y="2023547"/>
            <a:ext cx="91781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Хранение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Доступность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Качество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Проблемы с разметкой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FAIRness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Воспроизводимость</a:t>
            </a:r>
          </a:p>
        </p:txBody>
      </p:sp>
    </p:spTree>
    <p:extLst>
      <p:ext uri="{BB962C8B-B14F-4D97-AF65-F5344CB8AC3E}">
        <p14:creationId xmlns:p14="http://schemas.microsoft.com/office/powerpoint/2010/main" val="246990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51039A-52D0-C26E-4D93-D935AE54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17D812C-8664-75BC-2392-7A707B1642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9636EE2-F2F2-59A2-C6F7-EAFAFB26E3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Data 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B1BA1-E92C-4059-0B81-D2D744C01B9E}"/>
              </a:ext>
            </a:extLst>
          </p:cNvPr>
          <p:cNvSpPr txBox="1"/>
          <p:nvPr/>
        </p:nvSpPr>
        <p:spPr>
          <a:xfrm>
            <a:off x="880249" y="2023547"/>
            <a:ext cx="1131175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актуальность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соответствие данных реальному состоянию целевого объекта в текущий период времени;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объективность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— точность отражения данными реального состояния целевого объекта;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целостность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полнота отражения данными реального состояния целевого объекта, которая показывает, насколько полны, безошибочны и непротиворечивы данные по смыслу и структуре (формату) с сохранением их правильной идентификации и взаимной связанности. 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релевантность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соответствие данных о реальном состоянии целевого объекта и решаемым задачам;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совместимость – процедурный показатель, который характеризует возможность обрабатывать и анализировать данные в дальнейшем, не только в рамках текущей задачи;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измеримость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качественные или количественные характеристики реального состояния целевого объекта и конечный объем набора цифровых данных.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управляемость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возможность целевым и осмысленным образом обработать, передать и контролировать данные о реальном состоянии целевого объекта, на основе структуры и формата датасета;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привязка к источнику данных 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связанная и достоверная идентификация цепочки поставки данных, например, указание авторства, источника генерации и прочие атрибуты происхождения данных;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доверие к поставщику данных 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оценка получателем деловых качеств поставщика публичных данных как хорошего человека ответственного, авторитетного, организованного и относительно независимого поставщика.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96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183F34-DCFC-AAD9-6A53-088C660E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4619526-A41E-DBE8-8FF3-C46D7097D5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87B8C960-80AF-7CCC-174D-5BF0C62A9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Разметка - Проблемы в разметке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F645C-8F7B-82C2-18AB-BAA1EFDF0384}"/>
              </a:ext>
            </a:extLst>
          </p:cNvPr>
          <p:cNvSpPr txBox="1"/>
          <p:nvPr/>
        </p:nvSpPr>
        <p:spPr>
          <a:xfrm>
            <a:off x="880249" y="2023547"/>
            <a:ext cx="9178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Полное/частичное отсутствие разметки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Неоднозначность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Дисбаланс</a:t>
            </a:r>
          </a:p>
        </p:txBody>
      </p:sp>
    </p:spTree>
    <p:extLst>
      <p:ext uri="{BB962C8B-B14F-4D97-AF65-F5344CB8AC3E}">
        <p14:creationId xmlns:p14="http://schemas.microsoft.com/office/powerpoint/2010/main" val="211712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0B88E9-42D1-DBE8-88F8-8A8E8244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46E59A6-D32C-084C-3D03-E52D541815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70ED288-A3F9-6559-91CB-B2B148BC2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Разметка - Ручная разметка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193B6-133F-FEB3-9AE9-2BC1B7BE0EE5}"/>
              </a:ext>
            </a:extLst>
          </p:cNvPr>
          <p:cNvSpPr txBox="1"/>
          <p:nvPr/>
        </p:nvSpPr>
        <p:spPr>
          <a:xfrm>
            <a:off x="880249" y="2023547"/>
            <a:ext cx="55205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Своими силами или краудсорсинг, например,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toloka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или Amazon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MTurk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Дорого стоит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Затруднена, если данные конфиденциальны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Замедляет ЖЦ проекта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Нужно четко описать задачу и убедиться, что ее поняли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Google Shape;542;p44">
            <a:extLst>
              <a:ext uri="{FF2B5EF4-FFF2-40B4-BE49-F238E27FC236}">
                <a16:creationId xmlns:a16="http://schemas.microsoft.com/office/drawing/2014/main" id="{FB1E9357-1BDA-2017-EF90-03B9BB47BB5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990600"/>
            <a:ext cx="5633683" cy="5584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670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3F1FC9-6BA1-0A90-4679-CED3EA0A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3745CB6-0572-141C-5825-B886559F76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3FA5725-C60B-AF37-CD5F-2BBD8652C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Разметка - </a:t>
            </a:r>
            <a:r>
              <a:rPr lang="en-US" spc="-95" dirty="0">
                <a:solidFill>
                  <a:srgbClr val="000000"/>
                </a:solidFill>
              </a:rPr>
              <a:t>Weak Supervision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EBCD4-E95F-D42E-F43A-7EF87EB3B4A3}"/>
              </a:ext>
            </a:extLst>
          </p:cNvPr>
          <p:cNvSpPr txBox="1"/>
          <p:nvPr/>
        </p:nvSpPr>
        <p:spPr>
          <a:xfrm>
            <a:off x="880249" y="2023547"/>
            <a:ext cx="111593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Основная идея - использовать для разметки эвристики, которые разработаны с экспертными знаниями в предметной области.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Эвристики могут быть шумными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Хорошо бы проверить качество программной разметки на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ground-truth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метках</a:t>
            </a:r>
          </a:p>
        </p:txBody>
      </p:sp>
      <p:pic>
        <p:nvPicPr>
          <p:cNvPr id="3" name="Google Shape;558;p45">
            <a:extLst>
              <a:ext uri="{FF2B5EF4-FFF2-40B4-BE49-F238E27FC236}">
                <a16:creationId xmlns:a16="http://schemas.microsoft.com/office/drawing/2014/main" id="{CD3A9F6B-B14F-7F65-A43A-65360A6C29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333" y="2988698"/>
            <a:ext cx="8839199" cy="2668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96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1BF27B-BBED-AF2C-D600-97D843B02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341C5BC-6BAD-151E-CD70-08439680876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D5CF327-9BD6-D1B3-D329-655CF4D80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highlight>
                  <a:schemeClr val="lt1"/>
                </a:highlight>
              </a:rPr>
              <a:t>Разметка - </a:t>
            </a:r>
            <a:r>
              <a:rPr lang="en-US" dirty="0">
                <a:solidFill>
                  <a:schemeClr val="tx1"/>
                </a:solidFill>
                <a:highlight>
                  <a:schemeClr val="lt1"/>
                </a:highlight>
              </a:rPr>
              <a:t>Semi-supervised</a:t>
            </a:r>
            <a:endParaRPr lang="en-US" sz="2800" b="0" i="0" u="none" strike="noStrike" cap="none" dirty="0">
              <a:solidFill>
                <a:schemeClr val="tx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8319D-CA29-CB2F-FC45-2CE519DA7ADF}"/>
              </a:ext>
            </a:extLst>
          </p:cNvPr>
          <p:cNvSpPr txBox="1"/>
          <p:nvPr/>
        </p:nvSpPr>
        <p:spPr>
          <a:xfrm>
            <a:off x="880249" y="2023547"/>
            <a:ext cx="111593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Semi-supervised Learning - частичное обучение - формируем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псевдометки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для неразмеченных объектов. Метод основан на предположении, что небольшие возмущения образца не должны менять его метку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Google Shape;575;p46">
            <a:extLst>
              <a:ext uri="{FF2B5EF4-FFF2-40B4-BE49-F238E27FC236}">
                <a16:creationId xmlns:a16="http://schemas.microsoft.com/office/drawing/2014/main" id="{B4B8A871-99D0-B3FE-E8E4-65106B93112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" y="3100765"/>
            <a:ext cx="6705600" cy="3519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763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FB59F9-2998-6CCC-E288-587D9081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4E78228-5B29-1508-5FB7-36F5C305C8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5190012-0A3D-F1B2-3BBF-1B08B2005D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9940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ru-RU" dirty="0">
                <a:solidFill>
                  <a:schemeClr val="tx1"/>
                </a:solidFill>
              </a:rPr>
              <a:t>Разметка - Генерация синтетических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3E684-1434-4D74-2C0D-FB64CDB27073}"/>
              </a:ext>
            </a:extLst>
          </p:cNvPr>
          <p:cNvSpPr txBox="1"/>
          <p:nvPr/>
        </p:nvSpPr>
        <p:spPr>
          <a:xfrm>
            <a:off x="880249" y="2023547"/>
            <a:ext cx="111593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Быстро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Частично решение проблемы с конфиденциальностью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Стабильные во времени результаты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Google Shape;623;p49">
            <a:extLst>
              <a:ext uri="{FF2B5EF4-FFF2-40B4-BE49-F238E27FC236}">
                <a16:creationId xmlns:a16="http://schemas.microsoft.com/office/drawing/2014/main" id="{CECCB6CB-2D8D-9534-325E-E7B237C525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826" y="3128839"/>
            <a:ext cx="6440196" cy="3562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845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21ACAD-1541-60BB-4C4E-E526F5BE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9916C58-94A3-8223-06C7-4C6BDBB6A6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B98719F-35D5-7BC8-09D3-BF9ED0CA8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9940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highlight>
                  <a:schemeClr val="lt1"/>
                </a:highlight>
              </a:rPr>
              <a:t>Дисбаланс классов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FCF9A-316F-BAC0-F62D-2A5983210CDE}"/>
              </a:ext>
            </a:extLst>
          </p:cNvPr>
          <p:cNvSpPr txBox="1"/>
          <p:nvPr/>
        </p:nvSpPr>
        <p:spPr>
          <a:xfrm>
            <a:off x="880249" y="2023547"/>
            <a:ext cx="11159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Несбалансированные данные - это одна из наиболее распространенных проблем, с которой сталкиваются в машинном обучении. Они возникают, когда классы, которые мы пытаемся предсказать, представлены неравномерно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Google Shape;640;p50">
            <a:extLst>
              <a:ext uri="{FF2B5EF4-FFF2-40B4-BE49-F238E27FC236}">
                <a16:creationId xmlns:a16="http://schemas.microsoft.com/office/drawing/2014/main" id="{5447060F-2048-B291-B30F-611BCAF553A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5366" y="3195758"/>
            <a:ext cx="6898234" cy="3424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389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FA3EA8-6AE1-8536-1FBF-B58216C0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32;p62">
            <a:extLst>
              <a:ext uri="{FF2B5EF4-FFF2-40B4-BE49-F238E27FC236}">
                <a16:creationId xmlns:a16="http://schemas.microsoft.com/office/drawing/2014/main" id="{1CBAA94E-1FA3-047A-9F43-4EEEE5DD4B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0" y="2743200"/>
            <a:ext cx="6142253" cy="38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A9CAB1C5-A207-F568-028E-8C5CB9EFE08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ACB648A-21A1-221F-A731-AB5AD0BEF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9940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  <a:highlight>
                  <a:schemeClr val="lt1"/>
                </a:highlight>
              </a:rPr>
              <a:t>Data Fairness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32FFE-EC68-3224-E2F1-109659AF8109}"/>
              </a:ext>
            </a:extLst>
          </p:cNvPr>
          <p:cNvSpPr txBox="1"/>
          <p:nvPr/>
        </p:nvSpPr>
        <p:spPr>
          <a:xfrm>
            <a:off x="880249" y="2023547"/>
            <a:ext cx="42251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Справедливость – метрика, которая проверяет, дает ли классификатор тот же результат для одного человека, что и для другого, который идентичен первому, за исключением одного или нескольких важных атрибутов, вроде цвета кожи или пола.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Нужна метрика справедливости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 все так однозначно - теорема о невозможности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Удалить чувствительные атрибуты не выход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Часто существует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trade-off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между качеством модели и справедливостью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19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6C3A9C-7355-21A4-FF94-04AAFB8E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BBE630C-2DC2-173F-1402-87C3643866D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DE3EAD6-B927-A059-56E9-9173309E0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108545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Data Fairness - pre-processing, in-processing, post-processing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775AE-4970-9219-96FB-0493F01200DC}"/>
              </a:ext>
            </a:extLst>
          </p:cNvPr>
          <p:cNvSpPr txBox="1"/>
          <p:nvPr/>
        </p:nvSpPr>
        <p:spPr>
          <a:xfrm>
            <a:off x="880249" y="2023547"/>
            <a:ext cx="1115935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Справедливость – метрика, которая проверяет, дает ли классификатор тот же результат для одного человека, что и для другого, который идентичен первому, за исключением одного или нескольких важных атрибутов, вроде цвета кожи или пола.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Pre-processing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корректировка распределений обучающих данных с помощью преобразований - взвешивание объектов,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ресэмплинг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In-processing:обучаем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справедливую модель - робастные модели,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Explainable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AI, оптимизация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Fairness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напрямую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Post-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processing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преобразование апостериорного распределения модели - калибровка, пороги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0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8AD88D-5C9B-B243-80EF-8EEF04FD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76B9166-E5D9-C9D8-E863-3817E14478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791CE44-7393-D24E-3C4A-BE18718D0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108545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94"/>
              </a:buClr>
              <a:buSzPts val="1400"/>
              <a:buFont typeface="Arial"/>
              <a:buNone/>
            </a:pPr>
            <a:r>
              <a:rPr lang="ru-RU" dirty="0">
                <a:solidFill>
                  <a:schemeClr val="tx1"/>
                </a:solidFill>
              </a:rPr>
              <a:t>Чек-лист вопросов по данным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BB2E5-651E-E889-31CC-E8AD4187EFDC}"/>
              </a:ext>
            </a:extLst>
          </p:cNvPr>
          <p:cNvSpPr txBox="1"/>
          <p:nvPr/>
        </p:nvSpPr>
        <p:spPr>
          <a:xfrm>
            <a:off x="880249" y="2023547"/>
            <a:ext cx="111593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Какие данные вам нужны для решения задачи?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Где взять эти данные? Где они хранятся? В каком формате? Есть ли у вас доступ?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нужен регулярный процесс обновления данных, выстроен ли он? Совпадает ли регулярность обновления с интервалом предполагаемых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инференса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переобучения?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Какой объем у данных? Достаточно ли их для решения задачи? 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нужно больше данных - сколько стоит этот процесс?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supervised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задача, есть ли разметка? Как она создавалась? Достаточно ли ее? Требуется ли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доразметка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 Сколько ресурсов может понадобиться и какие?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Каково качество данных и разметки? Много ли шума?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Есть ли в данных конфиденциальная информация? Как ее обрабатывать? Как хранить и передавать данные с учетом наличия такой информации?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будет формироваться выборка для обучения?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Есть ли в данных дисбаланс/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bias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 Нужна ли какая-то предобработка для решения этих проблем?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Где и как будут храниться данные во время экспериментов?</a:t>
            </a:r>
          </a:p>
        </p:txBody>
      </p:sp>
    </p:spTree>
    <p:extLst>
      <p:ext uri="{BB962C8B-B14F-4D97-AF65-F5344CB8AC3E}">
        <p14:creationId xmlns:p14="http://schemas.microsoft.com/office/powerpoint/2010/main" val="405659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</TotalTime>
  <Words>881</Words>
  <Application>Microsoft Office PowerPoint</Application>
  <PresentationFormat>Широкоэкранный</PresentationFormat>
  <Paragraphs>111</Paragraphs>
  <Slides>16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Aptos</vt:lpstr>
      <vt:lpstr>Arial</vt:lpstr>
      <vt:lpstr>Helvetica Neue</vt:lpstr>
      <vt:lpstr>Verdana</vt:lpstr>
      <vt:lpstr>Office Theme</vt:lpstr>
      <vt:lpstr>«Работа с данными и ограничениями датасетов» </vt:lpstr>
      <vt:lpstr>Data Centric VS Data Driven VS Model Driven </vt:lpstr>
      <vt:lpstr>Garbage in -&gt; garbage out</vt:lpstr>
      <vt:lpstr>Объем и качество данных - стратегии отбора данных</vt:lpstr>
      <vt:lpstr>Объем и качество данных </vt:lpstr>
      <vt:lpstr>Проблемы в данных - о чем стоит подумать?</vt:lpstr>
      <vt:lpstr>Data Quality</vt:lpstr>
      <vt:lpstr>Разметка - Проблемы в разметке</vt:lpstr>
      <vt:lpstr>Разметка - Ручная разметка</vt:lpstr>
      <vt:lpstr>Разметка - Weak Supervision</vt:lpstr>
      <vt:lpstr>Разметка - Semi-supervised</vt:lpstr>
      <vt:lpstr>Разметка - Генерация синтетических данных</vt:lpstr>
      <vt:lpstr>Дисбаланс классов</vt:lpstr>
      <vt:lpstr>Data Fairness</vt:lpstr>
      <vt:lpstr>Data Fairness - pre-processing, in-processing, post-processing</vt:lpstr>
      <vt:lpstr>Чек-лист вопросов по данным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Кристина Желтова</cp:lastModifiedBy>
  <cp:revision>43</cp:revision>
  <dcterms:created xsi:type="dcterms:W3CDTF">2025-04-21T14:02:08Z</dcterms:created>
  <dcterms:modified xsi:type="dcterms:W3CDTF">2026-02-07T14:10:01Z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2024-11-19T00:00:00Z</vt:filetime>
  </property>
  <property fmtid="{D5CDD505-2E9C-101B-9397-08002B2CF9AE}" pid="3" name="LastSaved">
    <vt:filetime>2025-04-21T00:00:00Z</vt:filetime>
  </property>
  <property fmtid="{D5CDD505-2E9C-101B-9397-08002B2CF9AE}" pid="4" name="Producer">
    <vt:lpwstr>macOS Версия 15.0 (Выпуск 24A335) Quartz PDFContext</vt:lpwstr>
  </property>
</Properties>
</file>