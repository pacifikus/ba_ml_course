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79" r:id="rId2"/>
    <p:sldId id="302" r:id="rId3"/>
    <p:sldId id="303" r:id="rId4"/>
    <p:sldId id="304" r:id="rId5"/>
    <p:sldId id="308" r:id="rId6"/>
    <p:sldId id="344" r:id="rId7"/>
    <p:sldId id="307" r:id="rId8"/>
    <p:sldId id="328" r:id="rId9"/>
    <p:sldId id="310" r:id="rId10"/>
    <p:sldId id="316" r:id="rId11"/>
    <p:sldId id="329" r:id="rId12"/>
    <p:sldId id="315" r:id="rId13"/>
    <p:sldId id="317" r:id="rId14"/>
    <p:sldId id="342" r:id="rId15"/>
    <p:sldId id="318" r:id="rId16"/>
    <p:sldId id="347" r:id="rId17"/>
    <p:sldId id="348" r:id="rId18"/>
    <p:sldId id="349" r:id="rId19"/>
    <p:sldId id="350" r:id="rId20"/>
    <p:sldId id="320" r:id="rId21"/>
    <p:sldId id="321" r:id="rId22"/>
    <p:sldId id="326" r:id="rId23"/>
    <p:sldId id="327" r:id="rId24"/>
    <p:sldId id="343" r:id="rId25"/>
    <p:sldId id="330" r:id="rId26"/>
    <p:sldId id="331" r:id="rId27"/>
    <p:sldId id="332" r:id="rId28"/>
    <p:sldId id="333" r:id="rId29"/>
    <p:sldId id="305" r:id="rId30"/>
    <p:sldId id="306" r:id="rId31"/>
    <p:sldId id="334" r:id="rId32"/>
    <p:sldId id="335" r:id="rId33"/>
    <p:sldId id="309" r:id="rId34"/>
    <p:sldId id="336" r:id="rId35"/>
    <p:sldId id="312" r:id="rId36"/>
    <p:sldId id="311" r:id="rId37"/>
    <p:sldId id="313" r:id="rId38"/>
    <p:sldId id="314" r:id="rId39"/>
    <p:sldId id="337" r:id="rId40"/>
    <p:sldId id="345" r:id="rId41"/>
    <p:sldId id="338" r:id="rId42"/>
    <p:sldId id="339" r:id="rId43"/>
    <p:sldId id="340" r:id="rId44"/>
    <p:sldId id="319" r:id="rId45"/>
    <p:sldId id="341" r:id="rId46"/>
    <p:sldId id="322" r:id="rId47"/>
    <p:sldId id="346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ристина Желтова" initials="КЖ" lastIdx="1" clrIdx="0">
    <p:extLst>
      <p:ext uri="{19B8F6BF-5375-455C-9EA6-DF929625EA0E}">
        <p15:presenceInfo xmlns:p15="http://schemas.microsoft.com/office/powerpoint/2012/main" userId="e393ba5682dd51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24" autoAdjust="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24A0-EC7F-4813-A3E7-82F7E7F5E905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8B55A-CABE-4C0C-8FF5-83437BB90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2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3869-2954-8DE5-1173-EA6A36B51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9E1B0A-93EE-5098-4C31-1B428DA6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53EDE-9EB5-6403-C13D-74E46AEE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38530-CD4C-321A-2C6F-192A5D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0CA22-EC29-0938-80C4-A3982947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E3112-94BE-A1D4-CC93-EFD9CDB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149E3-6C1C-9EBB-FE4C-60C45DD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761EA-2BB0-5E10-18F3-F184501E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8D7B8-DCB8-6932-1BE0-BE8AECC2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6181A-180F-39E2-3FA2-B436237E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7713-AAE8-A5F9-FEF5-E57A928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28430-0353-180D-4F84-78B5EF93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386B-52B9-E46A-674A-2BF01C72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9592F-F752-59D6-0341-C90AE76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07D-4403-E811-7FDE-835D39A7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48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F62E2-5BB4-6C72-DD36-C106B086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9EC6F-2B76-E6D0-86F6-4D7CCD21A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7644D1-C175-75DC-0146-FE248194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B0ED-D620-86A3-3AE8-37946796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CE183-4E63-AA5E-AF10-CE11C1E0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111AF-D48D-353F-7538-6967D43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32C3-1889-1E84-5CBE-A1F8238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4B15E-D297-CDE8-66A5-A3FB2D47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F4D7D-00C9-4ACA-0E6B-761DEAF4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574226-3B52-2DDA-B78D-64843B13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948F68-1C70-E5DD-1BDB-0C90E452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70FD9E-D77D-143D-B3E7-92DFDB8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E4BAA2-C3C7-EB1C-7094-9776162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3B516-78C4-8E6E-2164-FA0D343F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E819-3AF1-4A66-9DCE-621CEC1C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321C4B-44A1-2F11-3BFB-6712C43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883F47-0BEC-C809-280A-71FB731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18B8A-8C7E-FD44-C09C-263870C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13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148117-BD83-99F1-D098-195D1EC2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B00001-66A6-277D-8321-927B57B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0873E-F893-5F26-8246-A3DABB6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0C5B8-2530-7CDE-E01B-230DD7EE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82F76-BF9E-7C65-FBCE-DD33CE5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581E2-1EA4-27DD-CF27-587DEBAE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656D4C-F27A-111C-B718-1DE58374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DB45E-5F39-FECC-2BB3-6B9449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D3CDF-DB79-906C-784A-9E7079C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2F77A-0E3D-1FEE-7177-F2A07597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32353B-A509-695E-30F7-2C6C7805B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85F8F8-1F35-DCA1-3055-2F762FB17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0ABF2-FD6D-E699-7682-2AA189C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D22DC-E2A2-5AEE-782E-B88086B9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66FF9B-B57D-C6A5-2F32-51CB1F50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1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9781C-8C6D-6388-F200-142ECF2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0E2EC0-EF13-E5E5-AC5F-20E9BE76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1D4C0-514E-3C9C-B236-E30E178D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F0851-5B49-7114-DE7D-07B0B49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ABB74-AE76-1AA4-B3AD-C3E4451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F5B72-580E-EAEB-1B65-0C9EB256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79CD2E-CCA5-4665-4880-1CBBB048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ED1DD-FB7A-2F9C-5B4D-BF4A408A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47C08E-E78A-A31F-59AA-B902F8F9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6C118-DEBB-ACEB-9C85-A8BFAEB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57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525A0-E06F-A804-ADBB-0EC2E18D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57EDE-CD79-55B2-0D25-5C0101A7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1659D-3967-57E1-D293-831530B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7071-E7D1-4F0D-90F4-41EE461A2EB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11CFA-4BEE-B020-86B0-FB8ACCB9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38E8E-41F4-034F-39C8-E9CE7B16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Нейронные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490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Искусственная нейронная сеть (ИНС) </a:t>
            </a:r>
            <a:r>
              <a:rPr lang="ru-RU" dirty="0"/>
              <a:t>— упрощенная модель биологической нейронной сети, представляющая собой совокупность искусственных нейронов, взаимодействующих между собой.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103ACD-8C93-E678-69B3-34A9902BE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409" y="1812779"/>
            <a:ext cx="5693505" cy="353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05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Матричный вид структуры ИНС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5D738D3-2745-34FA-89CC-D2C0B9465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969" y="2262739"/>
            <a:ext cx="6716062" cy="3477110"/>
          </a:xfrm>
        </p:spPr>
      </p:pic>
    </p:spTree>
    <p:extLst>
      <p:ext uri="{BB962C8B-B14F-4D97-AF65-F5344CB8AC3E}">
        <p14:creationId xmlns:p14="http://schemas.microsoft.com/office/powerpoint/2010/main" val="268651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активации</a:t>
            </a:r>
          </a:p>
        </p:txBody>
      </p:sp>
      <p:pic>
        <p:nvPicPr>
          <p:cNvPr id="3076" name="Picture 4" descr="Deep Learning Cheat Sheet #1: Introduction to Neural Networks | Data  Science and Machine Learning | Kaggle">
            <a:extLst>
              <a:ext uri="{FF2B5EF4-FFF2-40B4-BE49-F238E27FC236}">
                <a16:creationId xmlns:a16="http://schemas.microsoft.com/office/drawing/2014/main" id="{E7B59739-3CF8-034F-8242-9D3B5292B4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58015"/>
            <a:ext cx="10515600" cy="368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764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Нелинейность функций активации наглядно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E42322-6C96-F589-5CCC-FCC8F4752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2446"/>
            <a:ext cx="5716290" cy="28745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3EEBE5-A6E1-FA56-8545-9DEFA8156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597" y="2223947"/>
            <a:ext cx="3719403" cy="2410106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5CD24F4-2557-2447-FAFE-922E2CE1593A}"/>
              </a:ext>
            </a:extLst>
          </p:cNvPr>
          <p:cNvCxnSpPr>
            <a:stCxn id="5" idx="3"/>
          </p:cNvCxnSpPr>
          <p:nvPr/>
        </p:nvCxnSpPr>
        <p:spPr>
          <a:xfrm>
            <a:off x="6554490" y="3489708"/>
            <a:ext cx="21549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78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Обратное распространение ошибки</a:t>
            </a:r>
          </a:p>
        </p:txBody>
      </p:sp>
      <p:pic>
        <p:nvPicPr>
          <p:cNvPr id="4098" name="Picture 2" descr="Back Propagation in Neural Network: Machine Learning Algorithm">
            <a:extLst>
              <a:ext uri="{FF2B5EF4-FFF2-40B4-BE49-F238E27FC236}">
                <a16:creationId xmlns:a16="http://schemas.microsoft.com/office/drawing/2014/main" id="{C7DC263A-B136-29C8-CEA4-4C20DADEA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832" y="2046083"/>
            <a:ext cx="6060014" cy="315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B988D57-D30C-3445-A471-5E16E5C57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6083"/>
            <a:ext cx="4802109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На каждой итерации происходит два прохода сети — прямой и обратный. </a:t>
            </a:r>
            <a:endParaRPr lang="en-US" dirty="0"/>
          </a:p>
          <a:p>
            <a:r>
              <a:rPr lang="ru-RU" dirty="0"/>
              <a:t>На прямом входной вектор распространяется от входов сети к ее выходам и формирует некоторый выходной вектор, соответствующий текущему (фактическому) состоянию весов. </a:t>
            </a:r>
            <a:endParaRPr lang="en-US" dirty="0"/>
          </a:p>
          <a:p>
            <a:r>
              <a:rPr lang="ru-RU" dirty="0"/>
              <a:t>Затем вычисляется ошибка нейронной сети как разность между фактическим и целевым значениями. </a:t>
            </a:r>
            <a:endParaRPr lang="en-US" dirty="0"/>
          </a:p>
          <a:p>
            <a:r>
              <a:rPr lang="ru-RU" dirty="0"/>
              <a:t>На обратном проходе эта ошибка распространяется от выхода сети к ее входам, и производится коррекция весов нейронов</a:t>
            </a:r>
          </a:p>
        </p:txBody>
      </p:sp>
    </p:spTree>
    <p:extLst>
      <p:ext uri="{BB962C8B-B14F-4D97-AF65-F5344CB8AC3E}">
        <p14:creationId xmlns:p14="http://schemas.microsoft.com/office/powerpoint/2010/main" val="380749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4E58-750C-1CB5-D56D-456E2995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7F1F0-93A9-0835-CAB9-66191333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597803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Архитектуры ИНС – </a:t>
            </a:r>
            <a:r>
              <a:rPr lang="ru-RU" dirty="0" err="1"/>
              <a:t>полносвязная</a:t>
            </a:r>
            <a:r>
              <a:rPr lang="ru-RU" dirty="0"/>
              <a:t> сеть</a:t>
            </a:r>
            <a:r>
              <a:rPr lang="en-US" dirty="0"/>
              <a:t> (FNN)</a:t>
            </a:r>
            <a:endParaRPr lang="ru-RU" dirty="0"/>
          </a:p>
        </p:txBody>
      </p:sp>
      <p:pic>
        <p:nvPicPr>
          <p:cNvPr id="5122" name="Picture 2" descr="Example of fully-connected neural network. | Download Scientific Diagram">
            <a:extLst>
              <a:ext uri="{FF2B5EF4-FFF2-40B4-BE49-F238E27FC236}">
                <a16:creationId xmlns:a16="http://schemas.microsoft.com/office/drawing/2014/main" id="{7C4BC4F5-E006-82C4-D953-A95A6FD93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753" y="2046083"/>
            <a:ext cx="6008135" cy="371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57A9396-1103-B3FC-8772-DBF91DEE6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6083"/>
            <a:ext cx="4802109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Каждый нейрон связан со всеми нейронами предыдущего слоя</a:t>
            </a:r>
          </a:p>
          <a:p>
            <a:r>
              <a:rPr lang="ru-RU" dirty="0">
                <a:solidFill>
                  <a:srgbClr val="111111"/>
                </a:solidFill>
                <a:latin typeface="-apple-system"/>
              </a:rPr>
              <a:t>У такой сети много параметров</a:t>
            </a:r>
          </a:p>
          <a:p>
            <a:r>
              <a:rPr lang="ru-RU" dirty="0">
                <a:solidFill>
                  <a:srgbClr val="111111"/>
                </a:solidFill>
                <a:latin typeface="-apple-system"/>
              </a:rPr>
              <a:t>Трудно обучать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2244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6C82-2954-D852-82F6-F28EB2A7C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6DED8-E7B5-2A9F-8AE0-B6736C54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Архитектуры ИНС – </a:t>
            </a:r>
            <a:r>
              <a:rPr lang="ru-RU" dirty="0" err="1"/>
              <a:t>сверточная</a:t>
            </a:r>
            <a:r>
              <a:rPr lang="ru-RU" dirty="0"/>
              <a:t> сеть</a:t>
            </a:r>
            <a:r>
              <a:rPr lang="en-US" dirty="0"/>
              <a:t> (CNN)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8B580BAB-56F8-6FDD-E86A-0C6EE9A42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640309" y="2046083"/>
            <a:ext cx="6173320" cy="3187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93C8013A-7854-1619-8065-D86D94209A63}"/>
              </a:ext>
            </a:extLst>
          </p:cNvPr>
          <p:cNvSpPr txBox="1">
            <a:spLocks/>
          </p:cNvSpPr>
          <p:nvPr/>
        </p:nvSpPr>
        <p:spPr>
          <a:xfrm>
            <a:off x="838200" y="2046083"/>
            <a:ext cx="48021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Внутри </a:t>
            </a:r>
            <a:r>
              <a:rPr lang="ru-RU" sz="2400" dirty="0" err="1"/>
              <a:t>сверточной</a:t>
            </a:r>
            <a:r>
              <a:rPr lang="ru-RU" sz="2400" dirty="0"/>
              <a:t> сети (</a:t>
            </a:r>
            <a:r>
              <a:rPr lang="en-US" sz="2400" dirty="0"/>
              <a:t>CNN):</a:t>
            </a:r>
            <a:endParaRPr lang="ru-RU" sz="2400" dirty="0"/>
          </a:p>
          <a:p>
            <a:r>
              <a:rPr lang="ru-RU" sz="2400" dirty="0" err="1"/>
              <a:t>Сверточные</a:t>
            </a:r>
            <a:r>
              <a:rPr lang="ru-RU" sz="2400" dirty="0"/>
              <a:t> слои;</a:t>
            </a:r>
          </a:p>
          <a:p>
            <a:r>
              <a:rPr lang="ru-RU" sz="2400" dirty="0"/>
              <a:t>Слои </a:t>
            </a:r>
            <a:r>
              <a:rPr lang="ru-RU" sz="2400" dirty="0" err="1"/>
              <a:t>субдискретизации</a:t>
            </a:r>
            <a:r>
              <a:rPr lang="ru-RU" sz="2400" dirty="0"/>
              <a:t> (</a:t>
            </a:r>
            <a:r>
              <a:rPr lang="ru-RU" sz="2400" dirty="0" err="1"/>
              <a:t>Subsampling</a:t>
            </a:r>
            <a:r>
              <a:rPr lang="ru-RU" sz="2400" dirty="0"/>
              <a:t> или </a:t>
            </a:r>
            <a:r>
              <a:rPr lang="ru-RU" sz="2400" dirty="0" err="1"/>
              <a:t>Pooling</a:t>
            </a:r>
            <a:r>
              <a:rPr lang="ru-RU" sz="2400" dirty="0"/>
              <a:t>), которые уменьшают размер изображения;</a:t>
            </a:r>
          </a:p>
          <a:p>
            <a:r>
              <a:rPr lang="ru-RU" sz="2400" dirty="0" err="1"/>
              <a:t>Полносвязные</a:t>
            </a:r>
            <a:r>
              <a:rPr lang="ru-RU" sz="2400" dirty="0"/>
              <a:t> слои.</a:t>
            </a:r>
          </a:p>
        </p:txBody>
      </p:sp>
    </p:spTree>
    <p:extLst>
      <p:ext uri="{BB962C8B-B14F-4D97-AF65-F5344CB8AC3E}">
        <p14:creationId xmlns:p14="http://schemas.microsoft.com/office/powerpoint/2010/main" val="31695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Можно ли без </a:t>
            </a:r>
            <a:r>
              <a:rPr lang="en-US" dirty="0"/>
              <a:t>CNN</a:t>
            </a:r>
            <a:r>
              <a:rPr lang="ru-RU" dirty="0"/>
              <a:t>?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ED45ACE-BB51-8DDC-0444-1817E6A3284A}"/>
              </a:ext>
            </a:extLst>
          </p:cNvPr>
          <p:cNvSpPr txBox="1">
            <a:spLocks/>
          </p:cNvSpPr>
          <p:nvPr/>
        </p:nvSpPr>
        <p:spPr>
          <a:xfrm>
            <a:off x="838200" y="2046083"/>
            <a:ext cx="48021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15053F-2EFA-10D5-B75D-6B4456CDDC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796" y="1825625"/>
            <a:ext cx="783240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134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Операция свертки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ED45ACE-BB51-8DDC-0444-1817E6A3284A}"/>
              </a:ext>
            </a:extLst>
          </p:cNvPr>
          <p:cNvSpPr txBox="1">
            <a:spLocks/>
          </p:cNvSpPr>
          <p:nvPr/>
        </p:nvSpPr>
        <p:spPr>
          <a:xfrm>
            <a:off x="838200" y="2046083"/>
            <a:ext cx="48021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Слой свёртки  — основной блок </a:t>
            </a:r>
            <a:r>
              <a:rPr lang="en-US" sz="2400" dirty="0"/>
              <a:t>CNN</a:t>
            </a:r>
            <a:r>
              <a:rPr lang="ru-RU" sz="2400" dirty="0"/>
              <a:t>. Он включает в себя для каждого канала свой фильтр, ядро свёртки которого обрабатывает предыдущий слой по фрагментам (суммируя результаты поэлементного произведения для каждого фрагмента). Весовые коэффициенты ядра свёртки (небольшой матрицы) неизвестны и устанавливаются в процессе обучения.</a:t>
            </a:r>
          </a:p>
        </p:txBody>
      </p:sp>
      <p:pic>
        <p:nvPicPr>
          <p:cNvPr id="8194" name="Picture 2" descr="Демистифицируем свёрточные нейросети / Хабр">
            <a:extLst>
              <a:ext uri="{FF2B5EF4-FFF2-40B4-BE49-F238E27FC236}">
                <a16:creationId xmlns:a16="http://schemas.microsoft.com/office/drawing/2014/main" id="{B3A97CD2-1AFE-AE83-5C23-92E86B722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6083"/>
            <a:ext cx="5640307" cy="265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5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997E8-670D-3CC3-D4AB-7E1FD6D1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Линейный слой </a:t>
            </a:r>
            <a:r>
              <a:rPr lang="en-US" dirty="0"/>
              <a:t>VS </a:t>
            </a:r>
            <a:r>
              <a:rPr lang="ru-RU" dirty="0" err="1"/>
              <a:t>Сверточный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C563D46-6271-5F1E-A3F1-97F83407A7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532" y="1825625"/>
            <a:ext cx="84609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91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Операция </a:t>
            </a:r>
            <a:r>
              <a:rPr lang="ru-RU" dirty="0" err="1"/>
              <a:t>пулинга</a:t>
            </a:r>
            <a:r>
              <a:rPr lang="ru-RU" dirty="0"/>
              <a:t> (</a:t>
            </a:r>
            <a:r>
              <a:rPr lang="en-US" dirty="0"/>
              <a:t>pooling)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ED45ACE-BB51-8DDC-0444-1817E6A3284A}"/>
              </a:ext>
            </a:extLst>
          </p:cNvPr>
          <p:cNvSpPr txBox="1">
            <a:spLocks/>
          </p:cNvSpPr>
          <p:nvPr/>
        </p:nvSpPr>
        <p:spPr>
          <a:xfrm>
            <a:off x="838200" y="2046083"/>
            <a:ext cx="48021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Слой </a:t>
            </a:r>
            <a:r>
              <a:rPr lang="ru-RU" sz="2400" dirty="0" err="1"/>
              <a:t>пулинга</a:t>
            </a:r>
            <a:r>
              <a:rPr lang="ru-RU" sz="2400" dirty="0"/>
              <a:t>  — представляет собой нелинейное уплотнение карты признаков, при этом группа пикселей уплотняется до одного пикселя, проходя нелинейное преобразование. </a:t>
            </a:r>
          </a:p>
          <a:p>
            <a:r>
              <a:rPr lang="ru-RU" sz="2400" dirty="0"/>
              <a:t>Операция </a:t>
            </a:r>
            <a:r>
              <a:rPr lang="ru-RU" sz="2400" dirty="0" err="1"/>
              <a:t>пулинга</a:t>
            </a:r>
            <a:r>
              <a:rPr lang="ru-RU" sz="2400" dirty="0"/>
              <a:t> позволяет существенно уменьшить пространственный объём изображения. </a:t>
            </a:r>
          </a:p>
          <a:p>
            <a:r>
              <a:rPr lang="ru-RU" sz="2400" dirty="0" err="1"/>
              <a:t>Пулинг</a:t>
            </a:r>
            <a:r>
              <a:rPr lang="ru-RU" sz="2400" dirty="0"/>
              <a:t> интерпретируется так: если на предыдущей операции свёртки уже были выявлены некоторые признаки, то для дальнейшей обработки настолько подробное изображение уже не нужно, и оно уплотняется до менее подробного. К тому же фильтрация уже ненужных деталей помогает не переобучаться. </a:t>
            </a:r>
          </a:p>
        </p:txBody>
      </p:sp>
      <p:pic>
        <p:nvPicPr>
          <p:cNvPr id="8196" name="Picture 4" descr="Types of pooling used in CNN. | Download Scientific Diagram">
            <a:extLst>
              <a:ext uri="{FF2B5EF4-FFF2-40B4-BE49-F238E27FC236}">
                <a16:creationId xmlns:a16="http://schemas.microsoft.com/office/drawing/2014/main" id="{AB33D63B-53E3-BA2B-BF6A-E77D329C3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225" y="2046083"/>
            <a:ext cx="4531426" cy="319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442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en-US" dirty="0"/>
              <a:t>CNN </a:t>
            </a:r>
            <a:r>
              <a:rPr lang="ru-RU" dirty="0"/>
              <a:t>в </a:t>
            </a:r>
            <a:r>
              <a:rPr lang="en-US" dirty="0"/>
              <a:t>NLP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BF1B67C-B59B-3EA9-5EC1-EC6E297BA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653" y="1285828"/>
            <a:ext cx="6090694" cy="557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7469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B734A-FEA2-FB18-8951-68F8B8F8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085310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Архитектуры ИНС – рекуррентная сеть </a:t>
            </a:r>
            <a:r>
              <a:rPr lang="en-US" dirty="0"/>
              <a:t>(RNN)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F515DE-DFD0-F07E-B9F6-32E83F0BD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6083"/>
            <a:ext cx="4802109" cy="4351338"/>
          </a:xfrm>
        </p:spPr>
        <p:txBody>
          <a:bodyPr>
            <a:normAutofit/>
          </a:bodyPr>
          <a:lstStyle/>
          <a:p>
            <a:r>
              <a:rPr lang="ru-RU" b="0" i="0" dirty="0">
                <a:solidFill>
                  <a:srgbClr val="111111"/>
                </a:solidFill>
                <a:effectLst/>
              </a:rPr>
              <a:t>Могут учесть порядок во времени – работать с последовательными данными</a:t>
            </a:r>
          </a:p>
          <a:p>
            <a:r>
              <a:rPr lang="ru-RU" dirty="0">
                <a:solidFill>
                  <a:srgbClr val="111111"/>
                </a:solidFill>
              </a:rPr>
              <a:t>Обладают памятью за счет того, что содержимое слоя передается нейросети обратно, это как бы ее память.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655C2A-4A41-4CD7-72E9-29EB629D5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477" y="1868955"/>
            <a:ext cx="65638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97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C4AEC-7844-F6FE-BD7F-D9FC9C66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развернуть </a:t>
            </a:r>
            <a:r>
              <a:rPr lang="en-US" dirty="0"/>
              <a:t>RNN </a:t>
            </a:r>
            <a:r>
              <a:rPr lang="ru-RU" dirty="0"/>
              <a:t>во времени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C7C64E0-96F5-9324-1FBA-051E02B254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86844"/>
            <a:ext cx="105156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639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365B0-820A-0A29-51D0-ABE67784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Другой взгляд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A9CFB2D-FA49-0834-5B6C-8AB0B4D444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62" y="1825625"/>
            <a:ext cx="1000307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526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8CB86-E670-D6FE-9B39-3233ADC9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Многослойные </a:t>
            </a:r>
            <a:r>
              <a:rPr lang="en-US" dirty="0"/>
              <a:t>RNN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703A269-790E-C1EC-C76C-4FA88F54D7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817" y="1825625"/>
            <a:ext cx="66943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653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EC84D9-68C0-185E-B4A1-9DABFD26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с градиентами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E9A24E0-4020-6774-C561-27E36B4EFC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205" y="1825625"/>
            <a:ext cx="82435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4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ru-RU" dirty="0"/>
              <a:t>Обычная </a:t>
            </a:r>
            <a:r>
              <a:rPr lang="en-US" dirty="0"/>
              <a:t>RNN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2B89802-6582-683A-E899-CAC284AF1992}"/>
              </a:ext>
            </a:extLst>
          </p:cNvPr>
          <p:cNvSpPr txBox="1">
            <a:spLocks/>
          </p:cNvSpPr>
          <p:nvPr/>
        </p:nvSpPr>
        <p:spPr>
          <a:xfrm>
            <a:off x="838200" y="2046083"/>
            <a:ext cx="48021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Плюсы:</a:t>
            </a:r>
          </a:p>
          <a:p>
            <a:r>
              <a:rPr lang="ru-RU" sz="1800" dirty="0"/>
              <a:t>Учитывают порядок и контекст</a:t>
            </a:r>
          </a:p>
          <a:p>
            <a:r>
              <a:rPr lang="ru-RU" sz="1800" dirty="0"/>
              <a:t>Работают с последовательностями переменной длины</a:t>
            </a:r>
          </a:p>
          <a:p>
            <a:r>
              <a:rPr lang="ru-RU" sz="1800" dirty="0"/>
              <a:t>Выгоднее по памяти на длинных последовательностях</a:t>
            </a:r>
            <a:endParaRPr lang="en-US" sz="1800" dirty="0"/>
          </a:p>
          <a:p>
            <a:endParaRPr lang="ru-RU" sz="1800" dirty="0"/>
          </a:p>
          <a:p>
            <a:pPr marL="0" indent="0">
              <a:buNone/>
            </a:pPr>
            <a:r>
              <a:rPr lang="ru-RU" sz="1800" dirty="0"/>
              <a:t>Минусы:</a:t>
            </a:r>
          </a:p>
          <a:p>
            <a:r>
              <a:rPr lang="ru-RU" sz="1800" dirty="0"/>
              <a:t>Плохо удерживают долгосрочные зависимости</a:t>
            </a:r>
          </a:p>
          <a:p>
            <a:r>
              <a:rPr lang="ru-RU" sz="1800" dirty="0"/>
              <a:t>Последовательный характер вычислений</a:t>
            </a:r>
          </a:p>
          <a:p>
            <a:endParaRPr lang="ru-RU" sz="1800" dirty="0"/>
          </a:p>
          <a:p>
            <a:endParaRPr lang="ru-RU" sz="1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7055AE-9D43-F170-BAC7-FE4DB34A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234" y="2046083"/>
            <a:ext cx="5990798" cy="26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38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en-US" dirty="0"/>
              <a:t>LSTM - Long short-term memory 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2B89802-6582-683A-E899-CAC284AF1992}"/>
              </a:ext>
            </a:extLst>
          </p:cNvPr>
          <p:cNvSpPr txBox="1">
            <a:spLocks/>
          </p:cNvSpPr>
          <p:nvPr/>
        </p:nvSpPr>
        <p:spPr>
          <a:xfrm>
            <a:off x="759823" y="5433717"/>
            <a:ext cx="10831286" cy="14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Долгосрочный контекст</a:t>
            </a:r>
            <a:endParaRPr lang="en-US" sz="2000" dirty="0"/>
          </a:p>
          <a:p>
            <a:r>
              <a:rPr lang="ru-RU" sz="2000" dirty="0"/>
              <a:t>Устойчивее к исчезанию градиентов</a:t>
            </a:r>
          </a:p>
          <a:p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4C2322-E88A-1FF7-3A39-08C19C9DE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026" y="1559917"/>
            <a:ext cx="8304919" cy="351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52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en-US" dirty="0"/>
              <a:t>GRU - Gated Recurrent Unit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2B89802-6582-683A-E899-CAC284AF1992}"/>
              </a:ext>
            </a:extLst>
          </p:cNvPr>
          <p:cNvSpPr txBox="1">
            <a:spLocks/>
          </p:cNvSpPr>
          <p:nvPr/>
        </p:nvSpPr>
        <p:spPr>
          <a:xfrm>
            <a:off x="838200" y="5241955"/>
            <a:ext cx="10976572" cy="1155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73539-8F11-F590-D1DD-EE30560074FD}"/>
              </a:ext>
            </a:extLst>
          </p:cNvPr>
          <p:cNvSpPr txBox="1"/>
          <p:nvPr/>
        </p:nvSpPr>
        <p:spPr>
          <a:xfrm>
            <a:off x="838200" y="1509620"/>
            <a:ext cx="10913198" cy="119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Более легковесная версия LSTM – GRU (</a:t>
            </a:r>
            <a:r>
              <a:rPr lang="ru-RU" dirty="0" err="1"/>
              <a:t>Gated</a:t>
            </a:r>
            <a:r>
              <a:rPr lang="ru-RU" dirty="0"/>
              <a:t> </a:t>
            </a:r>
            <a:r>
              <a:rPr lang="ru-RU" dirty="0" err="1"/>
              <a:t>Recurrent</a:t>
            </a:r>
            <a:r>
              <a:rPr lang="ru-RU" dirty="0"/>
              <a:t> Unit). Так же использует гейты и имеет похожую структуру, но имеет несколько отличий: </a:t>
            </a:r>
            <a:endParaRPr lang="en-US" dirty="0"/>
          </a:p>
          <a:p>
            <a:r>
              <a:rPr lang="ru-RU" dirty="0"/>
              <a:t>• Имеет только одно внутреннее состояние ℎ𝑡 </a:t>
            </a:r>
            <a:endParaRPr lang="en-US" dirty="0"/>
          </a:p>
          <a:p>
            <a:r>
              <a:rPr lang="ru-RU" dirty="0"/>
              <a:t>• </a:t>
            </a:r>
            <a:r>
              <a:rPr lang="ru-RU" dirty="0" err="1"/>
              <a:t>Input</a:t>
            </a:r>
            <a:r>
              <a:rPr lang="ru-RU" dirty="0"/>
              <a:t> и </a:t>
            </a:r>
            <a:r>
              <a:rPr lang="ru-RU" dirty="0" err="1"/>
              <a:t>Output</a:t>
            </a:r>
            <a:r>
              <a:rPr lang="ru-RU" dirty="0"/>
              <a:t> </a:t>
            </a:r>
            <a:r>
              <a:rPr lang="ru-RU" dirty="0" err="1"/>
              <a:t>gates</a:t>
            </a:r>
            <a:r>
              <a:rPr lang="ru-RU" dirty="0"/>
              <a:t> объединены в</a:t>
            </a:r>
            <a:r>
              <a:rPr lang="en-US" dirty="0"/>
              <a:t> </a:t>
            </a:r>
            <a:r>
              <a:rPr lang="ru-RU" dirty="0"/>
              <a:t>один гейт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07CD92-3205-E0E4-32D2-0942FE02B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626" y="3089369"/>
            <a:ext cx="7630748" cy="340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36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76572" cy="1325563"/>
          </a:xfrm>
        </p:spPr>
        <p:txBody>
          <a:bodyPr/>
          <a:lstStyle/>
          <a:p>
            <a:r>
              <a:rPr lang="en-US" dirty="0"/>
              <a:t>LSTM vs GRU	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2B89802-6582-683A-E899-CAC284AF1992}"/>
              </a:ext>
            </a:extLst>
          </p:cNvPr>
          <p:cNvSpPr txBox="1">
            <a:spLocks/>
          </p:cNvSpPr>
          <p:nvPr/>
        </p:nvSpPr>
        <p:spPr>
          <a:xfrm>
            <a:off x="838200" y="5241955"/>
            <a:ext cx="10976572" cy="1155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73539-8F11-F590-D1DD-EE30560074FD}"/>
              </a:ext>
            </a:extLst>
          </p:cNvPr>
          <p:cNvSpPr txBox="1"/>
          <p:nvPr/>
        </p:nvSpPr>
        <p:spPr>
          <a:xfrm>
            <a:off x="838200" y="1844598"/>
            <a:ext cx="74366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-apple-system"/>
              </a:rPr>
              <a:t>• У GRU меньше параметров и она</a:t>
            </a:r>
            <a:r>
              <a:rPr lang="en-US" sz="2400" dirty="0">
                <a:latin typeface="-apple-system"/>
              </a:rPr>
              <a:t> </a:t>
            </a:r>
            <a:r>
              <a:rPr lang="ru-RU" sz="2400" dirty="0">
                <a:latin typeface="-apple-system"/>
              </a:rPr>
              <a:t>более</a:t>
            </a:r>
            <a:r>
              <a:rPr lang="en-US" sz="2400" dirty="0">
                <a:latin typeface="-apple-system"/>
              </a:rPr>
              <a:t> </a:t>
            </a:r>
            <a:r>
              <a:rPr lang="ru-RU" sz="2400" dirty="0">
                <a:latin typeface="-apple-system"/>
              </a:rPr>
              <a:t>вычислительно эффективна</a:t>
            </a:r>
          </a:p>
          <a:p>
            <a:r>
              <a:rPr lang="ru-RU" sz="2400" dirty="0">
                <a:latin typeface="-apple-system"/>
              </a:rPr>
              <a:t>• Много данных → LSTM обычно показывает результаты чуть лучше</a:t>
            </a:r>
          </a:p>
          <a:p>
            <a:r>
              <a:rPr lang="ru-RU" sz="2400" dirty="0">
                <a:latin typeface="-apple-system"/>
              </a:rPr>
              <a:t>• Мало данных → GRU обычно показывает результаты чуть лучше</a:t>
            </a:r>
          </a:p>
          <a:p>
            <a:r>
              <a:rPr lang="ru-RU" sz="2400" dirty="0">
                <a:latin typeface="-apple-system"/>
              </a:rPr>
              <a:t>• Однозначно сказать нельзя кто лучше</a:t>
            </a:r>
          </a:p>
        </p:txBody>
      </p:sp>
    </p:spTree>
    <p:extLst>
      <p:ext uri="{BB962C8B-B14F-4D97-AF65-F5344CB8AC3E}">
        <p14:creationId xmlns:p14="http://schemas.microsoft.com/office/powerpoint/2010/main" val="2691483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97042-323D-5CC0-286A-009A02E64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9A2517-D816-604B-92F0-F8D46C0A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350597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9549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Трансформеры были представлены в 2017 году компанией Google  в статье «</a:t>
            </a:r>
            <a:r>
              <a:rPr lang="ru-RU" dirty="0" err="1"/>
              <a:t>Attention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All You </a:t>
            </a:r>
            <a:r>
              <a:rPr lang="ru-RU" dirty="0" err="1"/>
              <a:t>Need</a:t>
            </a:r>
            <a:r>
              <a:rPr lang="ru-RU" dirty="0"/>
              <a:t>».</a:t>
            </a:r>
          </a:p>
          <a:p>
            <a:r>
              <a:rPr lang="ru-RU" dirty="0"/>
              <a:t>По аналогии с рекуррентными нейронными сетями (РНС) трансформеры предназначены для обработки последовательностей, таких как текст на естественном языке, и решения таких задач как машинный перевод и автоматическое реферирование. В отличие от РНС, трансформеры не требуют обработки последовательностей по порядку. Например, если входные данные — это текст, то трансформеру не требуется обрабатывать конец текста после обработки его начала. </a:t>
            </a:r>
          </a:p>
          <a:p>
            <a:r>
              <a:rPr lang="ru-RU" dirty="0"/>
              <a:t>В последнее время трансформеры значительно превзошли другие </a:t>
            </a:r>
            <a:r>
              <a:rPr lang="ru-RU" dirty="0" err="1"/>
              <a:t>нейросетевые</a:t>
            </a:r>
            <a:r>
              <a:rPr lang="ru-RU" dirty="0"/>
              <a:t> архитектуры и сейчас являются </a:t>
            </a:r>
            <a:r>
              <a:rPr lang="en-US" dirty="0"/>
              <a:t>State</a:t>
            </a:r>
            <a:r>
              <a:rPr lang="ru-RU" dirty="0"/>
              <a:t>-</a:t>
            </a:r>
            <a:r>
              <a:rPr lang="en-US" dirty="0"/>
              <a:t>Of</a:t>
            </a:r>
            <a:r>
              <a:rPr lang="ru-RU" dirty="0"/>
              <a:t>-</a:t>
            </a:r>
            <a:r>
              <a:rPr lang="en-US" dirty="0"/>
              <a:t>The</a:t>
            </a:r>
            <a:r>
              <a:rPr lang="ru-RU" dirty="0"/>
              <a:t>-</a:t>
            </a:r>
            <a:r>
              <a:rPr lang="en-US" dirty="0"/>
              <a:t>Art </a:t>
            </a:r>
            <a:r>
              <a:rPr lang="ru-RU" dirty="0"/>
              <a:t>моделями.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Picture 2" descr="Что такое трансформеры? (машинное обучение) | ForkLog">
            <a:extLst>
              <a:ext uri="{FF2B5EF4-FFF2-40B4-BE49-F238E27FC236}">
                <a16:creationId xmlns:a16="http://schemas.microsoft.com/office/drawing/2014/main" id="{6175673B-FA57-0226-1DA2-481F1C38B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422" y="805758"/>
            <a:ext cx="3766051" cy="5246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098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2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Трансформеры </a:t>
            </a:r>
            <a:r>
              <a:rPr lang="en-US" dirty="0"/>
              <a:t>– seq2seq </a:t>
            </a:r>
            <a:r>
              <a:rPr lang="ru-RU" dirty="0"/>
              <a:t>модель с архитектурой </a:t>
            </a:r>
            <a:r>
              <a:rPr lang="en-US" dirty="0"/>
              <a:t>Encoder-Decoder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B056AE-C3BF-023D-76CE-25E8C05D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68" y="2762864"/>
            <a:ext cx="5726617" cy="384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52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85650" cy="4089085"/>
          </a:xfrm>
        </p:spPr>
        <p:txBody>
          <a:bodyPr>
            <a:normAutofit/>
          </a:bodyPr>
          <a:lstStyle/>
          <a:p>
            <a:r>
              <a:rPr lang="en-US" dirty="0"/>
              <a:t>Encoder </a:t>
            </a:r>
            <a:r>
              <a:rPr lang="ru-RU" dirty="0"/>
              <a:t>состоит из нескольких слоев, каждый из которых является </a:t>
            </a:r>
            <a:r>
              <a:rPr lang="en-US" dirty="0"/>
              <a:t>encoder’</a:t>
            </a:r>
            <a:r>
              <a:rPr lang="ru-RU" dirty="0"/>
              <a:t>ом.</a:t>
            </a:r>
          </a:p>
          <a:p>
            <a:r>
              <a:rPr lang="en-US" dirty="0"/>
              <a:t>Decoder </a:t>
            </a:r>
            <a:r>
              <a:rPr lang="ru-RU" dirty="0"/>
              <a:t>также состоит из нескольких слоев, и на каждый слой </a:t>
            </a:r>
            <a:r>
              <a:rPr lang="en-US" dirty="0"/>
              <a:t>Decoder’</a:t>
            </a:r>
            <a:r>
              <a:rPr lang="ru-RU" dirty="0"/>
              <a:t>а подается одно и то же состояние </a:t>
            </a:r>
            <a:r>
              <a:rPr lang="en-US" dirty="0"/>
              <a:t>Encoder’</a:t>
            </a:r>
            <a:r>
              <a:rPr lang="ru-RU" dirty="0"/>
              <a:t>а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865807-A3B6-EB95-7782-0F887A4C9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88" y="1690688"/>
            <a:ext cx="6098346" cy="42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24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85650" cy="4089085"/>
          </a:xfrm>
        </p:spPr>
        <p:txBody>
          <a:bodyPr>
            <a:normAutofit/>
          </a:bodyPr>
          <a:lstStyle/>
          <a:p>
            <a:r>
              <a:rPr lang="ru-RU" dirty="0"/>
              <a:t>Все </a:t>
            </a:r>
            <a:r>
              <a:rPr lang="en-US" dirty="0"/>
              <a:t>Encoder’</a:t>
            </a:r>
            <a:r>
              <a:rPr lang="ru-RU" dirty="0"/>
              <a:t>ы состоят из двух частей – механизма </a:t>
            </a:r>
            <a:r>
              <a:rPr lang="en-US" dirty="0"/>
              <a:t>Self-Attention </a:t>
            </a:r>
            <a:r>
              <a:rPr lang="ru-RU" dirty="0"/>
              <a:t>и </a:t>
            </a:r>
            <a:r>
              <a:rPr lang="ru-RU" dirty="0" err="1"/>
              <a:t>полносвязного</a:t>
            </a:r>
            <a:r>
              <a:rPr lang="ru-RU" dirty="0"/>
              <a:t> слоя </a:t>
            </a:r>
            <a:r>
              <a:rPr lang="en-US" dirty="0"/>
              <a:t>(FFNN)</a:t>
            </a:r>
          </a:p>
          <a:p>
            <a:endParaRPr lang="en-US" dirty="0"/>
          </a:p>
          <a:p>
            <a:r>
              <a:rPr lang="en-US" dirty="0"/>
              <a:t>Decoder’</a:t>
            </a:r>
            <a:r>
              <a:rPr lang="ru-RU" dirty="0"/>
              <a:t>ы имеют еще одну часть – </a:t>
            </a:r>
            <a:r>
              <a:rPr lang="en-US" dirty="0"/>
              <a:t>Encoder-Decoder Attention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C1CA2F-768F-2C83-07C2-8C8220F8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46" y="1690688"/>
            <a:ext cx="5262091" cy="22724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3E2977-44C1-21BB-D175-BE639C04B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778" y="4386695"/>
            <a:ext cx="5867651" cy="180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57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2E3DFF-3058-8A8F-469F-94DC7A167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852" y="1997640"/>
            <a:ext cx="6228296" cy="375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60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75360" cy="408908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По мере обработки каждого слова, </a:t>
            </a:r>
            <a:r>
              <a:rPr lang="en-US" dirty="0"/>
              <a:t>self-attention </a:t>
            </a:r>
            <a:r>
              <a:rPr lang="ru-RU" dirty="0"/>
              <a:t>позволяет модели искать в других позициях входной последовательности «подсказки», которые могут улучшить кодирование этого слова.</a:t>
            </a:r>
          </a:p>
          <a:p>
            <a:r>
              <a:rPr lang="ru-RU" dirty="0"/>
              <a:t>Фактически </a:t>
            </a:r>
            <a:r>
              <a:rPr lang="en-US" dirty="0"/>
              <a:t>Self-Attention – </a:t>
            </a:r>
            <a:r>
              <a:rPr lang="ru-RU" dirty="0"/>
              <a:t>способ встроить «понимание» других релевантных слов в то, которое обрабатывается на текущий момент.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4060E0-381E-8EC9-2EB2-9C17FE8D1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50" y="1690688"/>
            <a:ext cx="4020111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10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9823" cy="145097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Первый шаг – создание векторов </a:t>
            </a:r>
            <a:r>
              <a:rPr lang="en-US" dirty="0"/>
              <a:t>q</a:t>
            </a:r>
            <a:r>
              <a:rPr lang="ru-RU" dirty="0"/>
              <a:t>, </a:t>
            </a:r>
            <a:r>
              <a:rPr lang="en-US" dirty="0"/>
              <a:t>k, v </a:t>
            </a:r>
            <a:r>
              <a:rPr lang="ru-RU" dirty="0"/>
              <a:t>путем умножения входного </a:t>
            </a:r>
            <a:r>
              <a:rPr lang="ru-RU" dirty="0" err="1"/>
              <a:t>эмбеддинга</a:t>
            </a:r>
            <a:r>
              <a:rPr lang="ru-RU" dirty="0"/>
              <a:t> на три матрицы, которые мы обучали в процессе.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F2D34D-648A-6672-3A63-8C3A4721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712" y="1825624"/>
            <a:ext cx="6283564" cy="37852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3D117F-E10C-450C-2F56-EA0193D7F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04" y="3006500"/>
            <a:ext cx="2309088" cy="334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84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53733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 итоге получаем матрицы запросов (</a:t>
            </a:r>
            <a:r>
              <a:rPr lang="en-US" dirty="0"/>
              <a:t>query), </a:t>
            </a:r>
            <a:r>
              <a:rPr lang="ru-RU" dirty="0"/>
              <a:t>ключей (</a:t>
            </a:r>
            <a:r>
              <a:rPr lang="en-US" dirty="0"/>
              <a:t>keys), </a:t>
            </a:r>
            <a:r>
              <a:rPr lang="ru-RU" dirty="0"/>
              <a:t>значений (</a:t>
            </a:r>
            <a:r>
              <a:rPr lang="en-US" dirty="0"/>
              <a:t>values)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2D1F6D-6276-A405-4E8F-4EAD66263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997" y="2497892"/>
            <a:ext cx="3810805" cy="398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72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75360" cy="40890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Дальнейшие шаги:</a:t>
            </a:r>
          </a:p>
          <a:p>
            <a:r>
              <a:rPr lang="ru-RU" dirty="0"/>
              <a:t>Умножаем вектор </a:t>
            </a:r>
            <a:r>
              <a:rPr lang="en-US" b="1" dirty="0"/>
              <a:t>q</a:t>
            </a:r>
            <a:r>
              <a:rPr lang="en-US" dirty="0"/>
              <a:t> </a:t>
            </a:r>
            <a:r>
              <a:rPr lang="ru-RU" dirty="0"/>
              <a:t>на вектора </a:t>
            </a:r>
            <a:r>
              <a:rPr lang="en-US" b="1" dirty="0"/>
              <a:t>k</a:t>
            </a:r>
            <a:r>
              <a:rPr lang="ru-RU" dirty="0"/>
              <a:t> получая оценки того, сколько внимания нужно уделять другим частям входного предложения, когда мы кодируем слово в определенной позиции.</a:t>
            </a:r>
          </a:p>
          <a:p>
            <a:r>
              <a:rPr lang="ru-RU" dirty="0"/>
              <a:t>Делим полученные оценки на 8 (квадратный корень из размерности вектора)</a:t>
            </a:r>
          </a:p>
          <a:p>
            <a:r>
              <a:rPr lang="ru-RU" dirty="0"/>
              <a:t>Применяем </a:t>
            </a:r>
            <a:r>
              <a:rPr lang="en-US" dirty="0" err="1"/>
              <a:t>Softmax</a:t>
            </a:r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A44653-4963-9DCA-2EFD-2F8ED8BC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247" y="1825624"/>
            <a:ext cx="5550160" cy="39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51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75360" cy="4089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Затем:</a:t>
            </a:r>
          </a:p>
          <a:p>
            <a:r>
              <a:rPr lang="ru-RU" dirty="0"/>
              <a:t>Умножаем полученные значения на вектора </a:t>
            </a:r>
            <a:r>
              <a:rPr lang="en-US" b="1" dirty="0"/>
              <a:t>v</a:t>
            </a:r>
            <a:endParaRPr lang="ru-RU" b="1" dirty="0"/>
          </a:p>
          <a:p>
            <a:r>
              <a:rPr lang="ru-RU" dirty="0"/>
              <a:t>Складываем все вместе, получая выходной вектор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08C989-F40F-FBEB-CA0F-4A95FFA5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259" y="1486797"/>
            <a:ext cx="5292561" cy="516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04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6572" cy="54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матричной форме это выглядит как: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8A5B43-81A4-A1E4-0BE6-49E1269C7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02" y="2955024"/>
            <a:ext cx="645885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02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Multi-Head 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6572" cy="546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В </a:t>
            </a:r>
            <a:r>
              <a:rPr lang="en-US" dirty="0"/>
              <a:t>Multi-Head Attention </a:t>
            </a:r>
            <a:r>
              <a:rPr lang="ru-RU" dirty="0"/>
              <a:t>мы поддерживаем отдельные весовые матрицы Q/K/V для каждой головы (</a:t>
            </a:r>
            <a:r>
              <a:rPr lang="en-US" dirty="0"/>
              <a:t>head)</a:t>
            </a:r>
            <a:r>
              <a:rPr lang="ru-RU" dirty="0"/>
              <a:t>, что приводит к различным матрицам Q/K/V.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7B9F2C-D09D-7D63-025F-679692CB5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27" y="2924364"/>
            <a:ext cx="4674003" cy="307921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D957ED2-1228-5C4D-A0F2-6320BDA1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970" y="3007814"/>
            <a:ext cx="5295538" cy="287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9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Multi-Head 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068778" cy="3823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После вычисления векторов в </a:t>
            </a:r>
            <a:r>
              <a:rPr lang="en-US" dirty="0"/>
              <a:t>Multi-Head Attention</a:t>
            </a:r>
            <a:r>
              <a:rPr lang="ru-RU" dirty="0"/>
              <a:t> они конкатенируются, умножаются на матрицу весов </a:t>
            </a:r>
            <a:r>
              <a:rPr lang="en-US" dirty="0"/>
              <a:t>W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A7D9ED-7216-8B54-6D7F-F17CB2C29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423" y="1892419"/>
            <a:ext cx="6802577" cy="369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12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Multi-Head 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95916" cy="483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Соберем все вместе: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D4903F-1985-31BD-EB9C-97BDEFA58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639" y="2661934"/>
            <a:ext cx="6577522" cy="377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002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Positional Encoding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865484" cy="4394107"/>
          </a:xfrm>
        </p:spPr>
        <p:txBody>
          <a:bodyPr>
            <a:normAutofit/>
          </a:bodyPr>
          <a:lstStyle/>
          <a:p>
            <a:r>
              <a:rPr lang="ru-RU" dirty="0"/>
              <a:t>Сейчас в описанном механизме не учитывается порядок слов.</a:t>
            </a:r>
          </a:p>
          <a:p>
            <a:r>
              <a:rPr lang="ru-RU" dirty="0"/>
              <a:t>Чтобы решить эту проблему, к основному </a:t>
            </a:r>
            <a:r>
              <a:rPr lang="ru-RU" dirty="0" err="1"/>
              <a:t>эмбеддингу</a:t>
            </a:r>
            <a:r>
              <a:rPr lang="ru-RU" dirty="0"/>
              <a:t> добавляется </a:t>
            </a:r>
            <a:r>
              <a:rPr lang="en-US" dirty="0"/>
              <a:t>positional </a:t>
            </a:r>
            <a:r>
              <a:rPr lang="ru-RU" dirty="0" err="1"/>
              <a:t>эмбеддинг</a:t>
            </a:r>
            <a:r>
              <a:rPr lang="ru-RU" dirty="0"/>
              <a:t>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1D33C3-37CC-F44D-3269-3A305E90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15" y="1690688"/>
            <a:ext cx="6076328" cy="349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68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63B60-C855-876F-475A-033D9288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399C6F-631F-9330-0AAF-E837FFB0B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1983121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Positional Encoding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3076" cy="8813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Интуиция здесь такова, что добавление векторов к </a:t>
            </a:r>
            <a:r>
              <a:rPr lang="ru-RU" dirty="0" err="1"/>
              <a:t>эмбеддингам</a:t>
            </a:r>
            <a:r>
              <a:rPr lang="ru-RU" dirty="0"/>
              <a:t> обеспечивает значимые расстояния между векторами </a:t>
            </a:r>
            <a:r>
              <a:rPr lang="ru-RU" dirty="0" err="1"/>
              <a:t>эмбеддингов</a:t>
            </a:r>
            <a:r>
              <a:rPr lang="ru-RU" dirty="0"/>
              <a:t> после их проецирования в векторы Q/K/V и во время скалярного произведения в </a:t>
            </a:r>
            <a:r>
              <a:rPr lang="en-US" dirty="0"/>
              <a:t>Attention</a:t>
            </a:r>
            <a:r>
              <a:rPr lang="ru-RU" dirty="0"/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A77245-8543-264A-7710-B93996D2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025" y="3276600"/>
            <a:ext cx="8954750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510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Residuals &amp; Normalization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086886" cy="4113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Каждый подуровень (</a:t>
            </a:r>
            <a:r>
              <a:rPr lang="en-US" dirty="0"/>
              <a:t>self-attention</a:t>
            </a:r>
            <a:r>
              <a:rPr lang="ru-RU" dirty="0"/>
              <a:t>, </a:t>
            </a:r>
            <a:r>
              <a:rPr lang="ru-RU" dirty="0" err="1"/>
              <a:t>ffnn</a:t>
            </a:r>
            <a:r>
              <a:rPr lang="ru-RU" dirty="0"/>
              <a:t>) в каждом </a:t>
            </a:r>
            <a:r>
              <a:rPr lang="en-US" dirty="0"/>
              <a:t>Encoder’</a:t>
            </a:r>
            <a:r>
              <a:rPr lang="ru-RU" dirty="0"/>
              <a:t>е имеет </a:t>
            </a:r>
            <a:r>
              <a:rPr lang="en-US" dirty="0"/>
              <a:t>residual-</a:t>
            </a:r>
            <a:r>
              <a:rPr lang="ru-RU" dirty="0"/>
              <a:t>соединение, и за ним следует шаг нормализации.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1D9189-B816-241E-42E5-C0722719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86" y="1486713"/>
            <a:ext cx="5795904" cy="41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810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Residuals &amp; Normalization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EBCC7D-8AC9-2B66-1B30-BE62F257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594" y="1792586"/>
            <a:ext cx="7472812" cy="437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485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Decoder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E47283-2A84-E3E8-D7BA-16605775C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466" y="1690689"/>
            <a:ext cx="6092798" cy="3442626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B7C2B982-0673-13F8-92AA-0C6E2FE2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385651" cy="4113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Вектора K и V используются </a:t>
            </a:r>
            <a:r>
              <a:rPr lang="en-US" dirty="0"/>
              <a:t>Decoder’</a:t>
            </a:r>
            <a:r>
              <a:rPr lang="ru-RU" dirty="0" err="1"/>
              <a:t>ами</a:t>
            </a:r>
            <a:r>
              <a:rPr lang="ru-RU" dirty="0"/>
              <a:t> в </a:t>
            </a:r>
            <a:r>
              <a:rPr lang="en-US" dirty="0"/>
              <a:t>Encoder-Decoder Attention </a:t>
            </a:r>
            <a:r>
              <a:rPr lang="ru-RU" dirty="0"/>
              <a:t>слоях, которые помогаю </a:t>
            </a:r>
            <a:r>
              <a:rPr lang="en-US" dirty="0"/>
              <a:t>Decoder’</a:t>
            </a:r>
            <a:r>
              <a:rPr lang="ru-RU" dirty="0"/>
              <a:t>у сосредоточиться на соответствующих местах входной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19298616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Linear &amp; </a:t>
            </a:r>
            <a:r>
              <a:rPr lang="en-US" dirty="0" err="1"/>
              <a:t>Softmax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34B15D-F07F-8896-5754-D706C603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459" y="1870892"/>
            <a:ext cx="5952282" cy="388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642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Трасферное</a:t>
            </a:r>
            <a:r>
              <a:rPr lang="ru-RU" dirty="0"/>
              <a:t> обучение (</a:t>
            </a:r>
            <a:r>
              <a:rPr lang="en-US" dirty="0"/>
              <a:t>transfer learning)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3793B-0596-A14A-DD7D-5E3D917E0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385651" cy="411344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Трансферное обучение — подраздел ML. Его цель — применение знаний, полученных благодаря решению одной задачи, к другой, но схожей задаче. </a:t>
            </a:r>
            <a:endParaRPr lang="en-US" dirty="0"/>
          </a:p>
          <a:p>
            <a:r>
              <a:rPr lang="ru-RU" dirty="0"/>
              <a:t>При переносе обучения мы начинаем с признаков, усвоенных при решении другой задачи, вместо того чтобы тренировать модели с нуля.</a:t>
            </a:r>
          </a:p>
          <a:p>
            <a:r>
              <a:rPr lang="ru-RU" dirty="0"/>
              <a:t>Трансферное обучение предполагает использование </a:t>
            </a:r>
            <a:r>
              <a:rPr lang="ru-RU" dirty="0" err="1"/>
              <a:t>предобученных</a:t>
            </a:r>
            <a:r>
              <a:rPr lang="ru-RU" dirty="0"/>
              <a:t> моделей (созданных и натренированных на большом наборе общедоступных данных).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F25A7D-2266-05A1-1B77-0C8BCA024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145" y="1690689"/>
            <a:ext cx="6499608" cy="352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07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EFC4A-3FD9-CFF6-AD7B-C041BBFD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B9380-F3F4-A095-9D8D-B1AD5B91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0346447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</TotalTime>
  <Words>1100</Words>
  <Application>Microsoft Office PowerPoint</Application>
  <PresentationFormat>Широкоэкранный</PresentationFormat>
  <Paragraphs>114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2" baseType="lpstr">
      <vt:lpstr>-apple-system</vt:lpstr>
      <vt:lpstr>Arial</vt:lpstr>
      <vt:lpstr>Calibri</vt:lpstr>
      <vt:lpstr>Calibri Light</vt:lpstr>
      <vt:lpstr>Тема Office</vt:lpstr>
      <vt:lpstr>Нейронные сети</vt:lpstr>
      <vt:lpstr>Матричный вид структуры ИНС</vt:lpstr>
      <vt:lpstr>Функции активации</vt:lpstr>
      <vt:lpstr>Нелинейность функций активации наглядно</vt:lpstr>
      <vt:lpstr>Обратное распространение ошибки</vt:lpstr>
      <vt:lpstr>Вопросы?</vt:lpstr>
      <vt:lpstr>Архитектуры ИНС – полносвязная сеть (FNN)</vt:lpstr>
      <vt:lpstr>Архитектуры ИНС – сверточная сеть (CNN)</vt:lpstr>
      <vt:lpstr>Можно ли без CNN?</vt:lpstr>
      <vt:lpstr>Операция свертки</vt:lpstr>
      <vt:lpstr>Линейный слой VS Сверточный</vt:lpstr>
      <vt:lpstr>Операция пулинга (pooling)</vt:lpstr>
      <vt:lpstr>CNN в NLP</vt:lpstr>
      <vt:lpstr>Вопросы?</vt:lpstr>
      <vt:lpstr>Архитектуры ИНС – рекуррентная сеть (RNN)</vt:lpstr>
      <vt:lpstr>Если развернуть RNN во времени</vt:lpstr>
      <vt:lpstr>Другой взгляд</vt:lpstr>
      <vt:lpstr>Многослойные RNN</vt:lpstr>
      <vt:lpstr>Проблемы с градиентами</vt:lpstr>
      <vt:lpstr>Обычная RNN</vt:lpstr>
      <vt:lpstr>LSTM - Long short-term memory </vt:lpstr>
      <vt:lpstr>GRU - Gated Recurrent Unit</vt:lpstr>
      <vt:lpstr>LSTM vs GRU </vt:lpstr>
      <vt:lpstr>Вопросы?</vt:lpstr>
      <vt:lpstr>Трансформеры</vt:lpstr>
      <vt:lpstr>Трансформеры – Encoder-Decoder</vt:lpstr>
      <vt:lpstr>Трансформеры – внутри Encoder-Decoder</vt:lpstr>
      <vt:lpstr>Трансформеры – внутри Encoder-Decoder</vt:lpstr>
      <vt:lpstr>Трансформеры – внутри Encoder-Decoder</vt:lpstr>
      <vt:lpstr>Трансформеры – Self-Attention</vt:lpstr>
      <vt:lpstr>Трансформеры – Self-Attention</vt:lpstr>
      <vt:lpstr>Трансформеры – Self-Attention</vt:lpstr>
      <vt:lpstr>Трансформеры – Self-Attention</vt:lpstr>
      <vt:lpstr>Трансформеры – Self-Attention</vt:lpstr>
      <vt:lpstr>Трансформеры – Self-Attention</vt:lpstr>
      <vt:lpstr>Трансформеры – Multi-Head Attention</vt:lpstr>
      <vt:lpstr>Трансформеры – Multi-Head Attention</vt:lpstr>
      <vt:lpstr>Трансформеры – Multi-Head Attention</vt:lpstr>
      <vt:lpstr>Трансформеры – Positional Encoding</vt:lpstr>
      <vt:lpstr>Вопросы?</vt:lpstr>
      <vt:lpstr>Трансформеры – Positional Encoding</vt:lpstr>
      <vt:lpstr>Трансформеры – Residuals &amp; Normalization</vt:lpstr>
      <vt:lpstr>Трансформеры – Residuals &amp; Normalization</vt:lpstr>
      <vt:lpstr>Трансформеры – Decoder</vt:lpstr>
      <vt:lpstr>Трансформеры – Linear &amp; Softmax</vt:lpstr>
      <vt:lpstr>Трасферное обучение (transfer learning)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Типология задач машинного обучения</dc:title>
  <dc:creator>Кристина Желтова</dc:creator>
  <cp:lastModifiedBy>Кристина Желтова</cp:lastModifiedBy>
  <cp:revision>372</cp:revision>
  <dcterms:created xsi:type="dcterms:W3CDTF">2023-01-09T13:10:05Z</dcterms:created>
  <dcterms:modified xsi:type="dcterms:W3CDTF">2026-04-03T14:16:24Z</dcterms:modified>
</cp:coreProperties>
</file>